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2" r:id="rId2"/>
    <p:sldId id="267" r:id="rId3"/>
    <p:sldId id="284" r:id="rId4"/>
    <p:sldId id="268" r:id="rId5"/>
    <p:sldId id="291" r:id="rId6"/>
    <p:sldId id="299" r:id="rId7"/>
    <p:sldId id="295" r:id="rId8"/>
    <p:sldId id="300" r:id="rId9"/>
    <p:sldId id="297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2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598" autoAdjust="0"/>
  </p:normalViewPr>
  <p:slideViewPr>
    <p:cSldViewPr snapToGrid="0">
      <p:cViewPr varScale="1">
        <p:scale>
          <a:sx n="104" d="100"/>
          <a:sy n="104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965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548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618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67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678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12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724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725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351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307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74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1B777-C4FA-4E6E-8A68-A42DE12F9366}" type="datetimeFigureOut">
              <a:rPr lang="es-PE" smtClean="0"/>
              <a:t>15/10/2026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F4E9A-3455-440A-A4B8-4592ACFC23AF}" type="slidenum">
              <a:rPr lang="es-PE" smtClean="0"/>
              <a:t>‹Nr.›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356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0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8" Type="http://schemas.openxmlformats.org/officeDocument/2006/relationships/image" Target="../media/image5.png"/><Relationship Id="rId21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4.png"/><Relationship Id="rId16" Type="http://schemas.openxmlformats.org/officeDocument/2006/relationships/image" Target="../media/image21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6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0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9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9201B1E8-AFA6-4198-8DF7-FA729C328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258" y="2259001"/>
            <a:ext cx="8361484" cy="1103070"/>
          </a:xfrm>
        </p:spPr>
        <p:txBody>
          <a:bodyPr anchor="ctr">
            <a:noAutofit/>
          </a:bodyPr>
          <a:lstStyle/>
          <a:p>
            <a:r>
              <a:rPr lang="en-US" sz="2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Combustion Regime-Independent Sub-grid Turbulent Combustion Model for Accurate Numerical Simulations of High-speed Turbulent Reacting Flows</a:t>
            </a:r>
            <a:endParaRPr lang="es-PE" sz="2800" dirty="0">
              <a:solidFill>
                <a:srgbClr val="042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98F867AA-8F60-43A1-AF47-C9B8F4192366}"/>
              </a:ext>
            </a:extLst>
          </p:cNvPr>
          <p:cNvSpPr txBox="1">
            <a:spLocks/>
          </p:cNvSpPr>
          <p:nvPr/>
        </p:nvSpPr>
        <p:spPr>
          <a:xfrm>
            <a:off x="762000" y="3810000"/>
            <a:ext cx="7620000" cy="1397000"/>
          </a:xfrm>
          <a:prstGeom prst="rect">
            <a:avLst/>
          </a:prstGeom>
        </p:spPr>
        <p:txBody>
          <a:bodyPr vert="horz" lIns="100796" tIns="50398" rIns="100796" bIns="50398" rtlCol="0" anchor="ctr">
            <a:normAutofit/>
          </a:bodyPr>
          <a:lstStyle/>
          <a:p>
            <a:pPr algn="ctr" defTabSz="1007943">
              <a:spcBef>
                <a:spcPts val="0"/>
              </a:spcBef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Fernando Illacanchi</a:t>
            </a:r>
            <a:r>
              <a:rPr lang="en-US" sz="16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1,3,*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Andrés Z. Mendiburu</a:t>
            </a:r>
            <a:r>
              <a:rPr lang="en-US" sz="16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Cesar Celis</a:t>
            </a:r>
            <a:r>
              <a:rPr lang="en-US" sz="16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 defTabSz="1007943">
              <a:spcBef>
                <a:spcPts val="900"/>
              </a:spcBef>
            </a:pPr>
            <a:r>
              <a:rPr lang="en-US" sz="12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Engineering Section, Pontificia Universidad Católica del Perú, Lima, Peru</a:t>
            </a:r>
          </a:p>
          <a:p>
            <a:pPr algn="ctr" defTabSz="1007943">
              <a:spcBef>
                <a:spcPts val="0"/>
              </a:spcBef>
            </a:pPr>
            <a:r>
              <a:rPr lang="en-US" sz="12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do Rio Grande do Sul, Porto Alegre, Brazil</a:t>
            </a:r>
          </a:p>
          <a:p>
            <a:pPr algn="ctr" defTabSz="1007943">
              <a:spcBef>
                <a:spcPts val="0"/>
              </a:spcBef>
            </a:pPr>
            <a:r>
              <a:rPr lang="en-US" sz="12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University of Munich, TUM School of Engineering and Design, Garching, Germany</a:t>
            </a:r>
          </a:p>
          <a:p>
            <a:pPr algn="ctr" defTabSz="1007943">
              <a:spcBef>
                <a:spcPts val="600"/>
              </a:spcBef>
            </a:pPr>
            <a:r>
              <a:rPr lang="en-US" sz="12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*f.illacanchi@pucp.edu.pe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BBC32A-309E-41A3-A0F6-06ED07645F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3" t="31720" r="14807" b="46631"/>
          <a:stretch/>
        </p:blipFill>
        <p:spPr>
          <a:xfrm>
            <a:off x="5950709" y="321722"/>
            <a:ext cx="3082714" cy="428446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0AFF61CA-BBE6-4E46-BD54-D94CB8903D78}"/>
              </a:ext>
            </a:extLst>
          </p:cNvPr>
          <p:cNvGrpSpPr/>
          <p:nvPr/>
        </p:nvGrpSpPr>
        <p:grpSpPr>
          <a:xfrm>
            <a:off x="110577" y="207585"/>
            <a:ext cx="5423019" cy="542583"/>
            <a:chOff x="3581281" y="160706"/>
            <a:chExt cx="5423019" cy="54258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80FAC417-4C07-4584-9CCE-6C8CC4F965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73" t="56868" r="14807" b="34616"/>
            <a:stretch/>
          </p:blipFill>
          <p:spPr>
            <a:xfrm>
              <a:off x="3581281" y="160706"/>
              <a:ext cx="5423019" cy="296496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6A0B1F87-26C4-4289-B679-CC83D7FD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0430" y="506483"/>
              <a:ext cx="2793124" cy="196806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3E9E7907-7405-02E3-3A99-2020816F7D63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A672C37-F528-4CF6-B9BB-3AE1EF1A0447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7B21C96C-3647-4A1C-9B0F-940215A70738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0A0E67D-72FD-4B3F-9103-13CB23AA40B2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95AF281-5FA4-4E38-86B4-AF6915CB985A}"/>
                </a:ext>
              </a:extLst>
            </p:cNvPr>
            <p:cNvPicPr/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FD83B46-82BC-DC0F-6276-1B4E59034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F9B81BB5-0602-658F-3D76-B610BE62F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E2CBF07E-198A-B3B0-89D8-FE4FC36B3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247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2106BBED-6DF7-4BA7-83EC-89B976B0DA0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2 Marcador de contenido">
                <a:extLst>
                  <a:ext uri="{FF2B5EF4-FFF2-40B4-BE49-F238E27FC236}">
                    <a16:creationId xmlns:a16="http://schemas.microsoft.com/office/drawing/2014/main" id="{4E249632-E841-467E-BD9A-AB4B79AFA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468" y="1222566"/>
                <a:ext cx="4318000" cy="3746999"/>
              </a:xfrm>
            </p:spPr>
            <p:txBody>
              <a:bodyPr lIns="100796">
                <a:normAutofit/>
              </a:bodyPr>
              <a:lstStyle/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High-speed reacting flows include </a:t>
                </a: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shockwaves, autoignition, and turbulent flame front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one model must hold across regimes</a:t>
                </a: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LES, the filtered source</a:t>
                </a:r>
                <a:r>
                  <a:rPr lang="de-DE" sz="1600" b="1" dirty="0">
                    <a:solidFill>
                      <a:srgbClr val="042354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1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𝐘</m:t>
                            </m:r>
                          </m:e>
                        </m:d>
                      </m:e>
                    </m:bar>
                  </m:oMath>
                </a14:m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requires a closure.</a:t>
                </a: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PSR ignores turbulence-chemistry interaction.</a:t>
                </a: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Transported PDF is regime-independent, but molecular mixing is still modeled</a:t>
                </a: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Linear-eddy model (LEM) resolves turbulent advection, diffusion, and reaction on a 1D line.</a:t>
                </a:r>
                <a:endParaRPr lang="en-US" sz="1600" b="1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2 Marcador de contenido">
                <a:extLst>
                  <a:ext uri="{FF2B5EF4-FFF2-40B4-BE49-F238E27FC236}">
                    <a16:creationId xmlns:a16="http://schemas.microsoft.com/office/drawing/2014/main" id="{4E249632-E841-467E-BD9A-AB4B79AFA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468" y="1222566"/>
                <a:ext cx="4318000" cy="3746999"/>
              </a:xfrm>
              <a:blipFill>
                <a:blip r:embed="rId3"/>
                <a:stretch>
                  <a:fillRect l="-282" t="-1140" r="-15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fik 1">
            <a:extLst>
              <a:ext uri="{FF2B5EF4-FFF2-40B4-BE49-F238E27FC236}">
                <a16:creationId xmlns:a16="http://schemas.microsoft.com/office/drawing/2014/main" id="{E0E775A9-9E86-548C-F533-F2C5B8662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444" y="1636393"/>
            <a:ext cx="4680000" cy="1209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19300E3-7E0C-55E4-7EBE-5D79F2C0D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444" y="2606723"/>
            <a:ext cx="4680000" cy="12066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3F1EE41-83B5-6B00-35FB-9078F8657D1E}"/>
              </a:ext>
            </a:extLst>
          </p:cNvPr>
          <p:cNvSpPr txBox="1"/>
          <p:nvPr/>
        </p:nvSpPr>
        <p:spPr>
          <a:xfrm>
            <a:off x="5013615" y="3649939"/>
            <a:ext cx="339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b="1" dirty="0" err="1"/>
              <a:t>High-speed</a:t>
            </a:r>
            <a:r>
              <a:rPr lang="de-DE" sz="1050" b="1" dirty="0"/>
              <a:t> </a:t>
            </a:r>
            <a:r>
              <a:rPr lang="de-DE" sz="1050" b="1" dirty="0" err="1"/>
              <a:t>flame</a:t>
            </a:r>
            <a:r>
              <a:rPr lang="de-DE" sz="1050" b="1" dirty="0"/>
              <a:t> </a:t>
            </a:r>
            <a:r>
              <a:rPr lang="de-DE" sz="1050" b="1" dirty="0" err="1"/>
              <a:t>propagation</a:t>
            </a:r>
            <a:r>
              <a:rPr lang="de-DE" sz="1050" b="1" dirty="0"/>
              <a:t> in an </a:t>
            </a:r>
            <a:r>
              <a:rPr lang="de-DE" sz="1050" b="1" dirty="0" err="1"/>
              <a:t>obstructed</a:t>
            </a:r>
            <a:r>
              <a:rPr lang="de-DE" sz="1050" b="1" dirty="0"/>
              <a:t> </a:t>
            </a:r>
            <a:r>
              <a:rPr lang="de-DE" sz="1050" b="1" dirty="0" err="1"/>
              <a:t>channel</a:t>
            </a:r>
            <a:endParaRPr lang="de-DE" sz="1050" b="1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E2D3B84-32D9-E00E-42B0-9D652906B877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18" name="Rectángulo 6">
              <a:extLst>
                <a:ext uri="{FF2B5EF4-FFF2-40B4-BE49-F238E27FC236}">
                  <a16:creationId xmlns:a16="http://schemas.microsoft.com/office/drawing/2014/main" id="{CD8B52FF-C011-B94F-9EDD-258F4CD9FBBF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19" name="Imagen 7">
              <a:extLst>
                <a:ext uri="{FF2B5EF4-FFF2-40B4-BE49-F238E27FC236}">
                  <a16:creationId xmlns:a16="http://schemas.microsoft.com/office/drawing/2014/main" id="{FDA23852-F8B6-50DF-0286-A99A18948585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D2C5F864-9832-45CB-2C22-B07DA7FA2ACD}"/>
                </a:ext>
              </a:extLst>
            </p:cNvPr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21" name="Imagen 9">
              <a:extLst>
                <a:ext uri="{FF2B5EF4-FFF2-40B4-BE49-F238E27FC236}">
                  <a16:creationId xmlns:a16="http://schemas.microsoft.com/office/drawing/2014/main" id="{A3D8A18A-BF23-E9EA-3A23-6FA4D158B185}"/>
                </a:ext>
              </a:extLst>
            </p:cNvPr>
            <p:cNvPicPr/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2F0D7FC0-476E-24B1-7CB9-A4A418C3F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C3D2D6C6-C4C4-2286-15D6-A72D5307E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4D2E7CE8-CE29-4C25-7A03-D883D1787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67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3041-7B1F-8977-10C8-A35F2584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73862AC2-4E35-40D3-67A0-BCF9F1494620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perator summary"/>
              <p:cNvSpPr txBox="1"/>
              <p:nvPr/>
            </p:nvSpPr>
            <p:spPr>
              <a:xfrm>
                <a:off x="350079" y="797405"/>
                <a:ext cx="4648200" cy="2768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LES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mass, momentum, and energy</a:t>
                </a:r>
              </a:p>
              <a:p>
                <a:pPr marL="228600" indent="0">
                  <a:spcBef>
                    <a:spcPts val="500"/>
                  </a:spcBef>
                  <a:buNone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bar>
                          <m:barPr>
                            <m:pos m:val="top"/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</m:bar>
                      </m:num>
                      <m:den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600" i="1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𝒩𝒮</m:t>
                    </m:r>
                    <m:d>
                      <m:d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42354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i="0" dirty="0" smtClean="0">
                        <a:solidFill>
                          <a:srgbClr val="042354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i="0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i="0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600" i="1" dirty="0" smtClean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sz="1600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28600" indent="0">
                  <a:spcBef>
                    <a:spcPts val="500"/>
                  </a:spcBef>
                  <a:buNone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Chemical reaction source: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bar>
                    <m:d>
                      <m:d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bar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n-US" sz="1600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1400"/>
                  </a:spcBef>
                  <a:buNone/>
                </a:pP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P-CLEM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two-scale split</a:t>
                </a:r>
              </a:p>
              <a:p>
                <a:pPr marL="228600" indent="0">
                  <a:spcBef>
                    <a:spcPts val="500"/>
                  </a:spcBef>
                  <a:buNone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 one step: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600" i="1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d>
                      <m:d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LES</m:t>
                            </m:r>
                          </m:sub>
                        </m:sSub>
                      </m:e>
                    </m:d>
                    <m:r>
                      <a:rPr lang="de-DE" sz="1600" b="0" i="0" smtClean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∘ </m:t>
                    </m:r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LES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28600" indent="0">
                  <a:spcBef>
                    <a:spcPts val="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particle advection across faces (splicing)</a:t>
                </a:r>
              </a:p>
              <a:p>
                <a:pPr marL="228600" indent="0">
                  <a:spcBef>
                    <a:spcPts val="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cell interior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𝐷𝑡</m:t>
                        </m:r>
                      </m:den>
                    </m:f>
                    <m:r>
                      <a:rPr lang="en-US" sz="1600" i="1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stir</m:t>
                        </m:r>
                      </m:sub>
                    </m:sSub>
                    <m:r>
                      <a:rPr lang="en-US" sz="1600" i="1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d>
                      <m:d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sz="1600" i="1">
                        <a:solidFill>
                          <a:srgbClr val="0423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04235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US" sz="1600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Operator summar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79" y="797405"/>
                <a:ext cx="4648200" cy="2768600"/>
              </a:xfrm>
              <a:prstGeom prst="rect">
                <a:avLst/>
              </a:prstGeom>
              <a:blipFill>
                <a:blip r:embed="rId5"/>
                <a:stretch>
                  <a:fillRect l="-655" t="-6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LES lane"/>
          <p:cNvSpPr/>
          <p:nvPr/>
        </p:nvSpPr>
        <p:spPr>
          <a:xfrm>
            <a:off x="508000" y="3581400"/>
            <a:ext cx="8128000" cy="711200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201" name="LES label"/>
          <p:cNvSpPr/>
          <p:nvPr/>
        </p:nvSpPr>
        <p:spPr>
          <a:xfrm>
            <a:off x="635000" y="3581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U n"/>
              <p:cNvSpPr/>
              <p:nvPr/>
            </p:nvSpPr>
            <p:spPr>
              <a:xfrm>
                <a:off x="2628900" y="3581400"/>
                <a:ext cx="7620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</m:bar>
                        </m:e>
                        <m:sup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U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3581400"/>
                <a:ext cx="762000" cy="711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NS arrow"/>
          <p:cNvCxnSpPr/>
          <p:nvPr/>
        </p:nvCxnSpPr>
        <p:spPr>
          <a:xfrm>
            <a:off x="3429000" y="3937000"/>
            <a:ext cx="336550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NS label"/>
              <p:cNvSpPr/>
              <p:nvPr/>
            </p:nvSpPr>
            <p:spPr>
              <a:xfrm>
                <a:off x="4343400" y="3784600"/>
                <a:ext cx="1524000" cy="304800"/>
              </a:xfrm>
              <a:prstGeom prst="rect">
                <a:avLst/>
              </a:prstGeom>
              <a:solidFill>
                <a:srgbClr val="042354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0">
                          <a:solidFill>
                            <a:srgbClr val="FFFFFF"/>
                          </a:solidFill>
                          <a:latin typeface="Cambria Math"/>
                        </a:rPr>
                        <m:t>𝒩𝒮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</m:bar>
                        </m:e>
                      </m:d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i="0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𝛥</m:t>
                          </m:r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LES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4" name="NS labe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784600"/>
                <a:ext cx="1524000" cy="304800"/>
              </a:xfrm>
              <a:prstGeom prst="rect">
                <a:avLst/>
              </a:prstGeom>
              <a:blipFill>
                <a:blip r:embed="rId7"/>
                <a:stretch>
                  <a:fillRect b="-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U n+1"/>
              <p:cNvSpPr/>
              <p:nvPr/>
            </p:nvSpPr>
            <p:spPr>
              <a:xfrm>
                <a:off x="6858000" y="3581400"/>
                <a:ext cx="8128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</m:bar>
                        </m:e>
                        <m:sup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5" name="U n+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581400"/>
                <a:ext cx="812800" cy="711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" name="LES to CLEM"/>
          <p:cNvCxnSpPr/>
          <p:nvPr/>
        </p:nvCxnSpPr>
        <p:spPr>
          <a:xfrm>
            <a:off x="3009900" y="4318000"/>
            <a:ext cx="0" cy="558800"/>
          </a:xfrm>
          <a:prstGeom prst="line">
            <a:avLst/>
          </a:prstGeom>
          <a:ln w="22225">
            <a:solidFill>
              <a:srgbClr val="042354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Down label"/>
              <p:cNvSpPr/>
              <p:nvPr/>
            </p:nvSpPr>
            <p:spPr>
              <a:xfrm>
                <a:off x="1600200" y="4419600"/>
                <a:ext cx="1333500" cy="35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r"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14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14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𝑈</m:t>
                          </m:r>
                        </m:e>
                      </m:bar>
                      <m:r>
                        <a:rPr lang="en-US" sz="1400" i="1">
                          <a:solidFill>
                            <a:srgbClr val="042354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400" i="0">
                          <a:solidFill>
                            <a:srgbClr val="042354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400" i="1">
                          <a:solidFill>
                            <a:srgbClr val="042354"/>
                          </a:solidFill>
                          <a:latin typeface="Cambria Math"/>
                        </a:rPr>
                        <m:t>𝛥</m:t>
                      </m:r>
                      <m:r>
                        <a:rPr lang="en-US" sz="1400" i="1">
                          <a:solidFill>
                            <a:srgbClr val="042354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𝛥</m:t>
                          </m:r>
                          <m:r>
                            <a:rPr lang="en-US" sz="14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LES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07" name="Down labe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419600"/>
                <a:ext cx="1333500" cy="3556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CLEM to LES"/>
          <p:cNvCxnSpPr/>
          <p:nvPr/>
        </p:nvCxnSpPr>
        <p:spPr>
          <a:xfrm flipV="1">
            <a:off x="7239000" y="4318000"/>
            <a:ext cx="0" cy="558800"/>
          </a:xfrm>
          <a:prstGeom prst="line">
            <a:avLst/>
          </a:prstGeom>
          <a:ln w="22225">
            <a:solidFill>
              <a:srgbClr val="4472C4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Up label"/>
              <p:cNvSpPr/>
              <p:nvPr/>
            </p:nvSpPr>
            <p:spPr>
              <a:xfrm>
                <a:off x="5816600" y="4419600"/>
                <a:ext cx="1346200" cy="35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r"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14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400" i="1">
                                      <a:solidFill>
                                        <a:srgbClr val="4472C4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rgbClr val="4472C4"/>
                                      </a:solidFill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bar>
                      <m:d>
                        <m:dPr>
                          <m:ctrlPr>
                            <a:rPr lang="en-US" sz="14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  <m:t>𝜌</m:t>
                              </m:r>
                            </m:e>
                          </m:bar>
                          <m:r>
                            <a:rPr lang="en-US" sz="1400" i="1">
                              <a:solidFill>
                                <a:srgbClr val="4472C4"/>
                              </a:solidFill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4472C4"/>
                              </a:solidFill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9" name="Up labe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600" y="4419600"/>
                <a:ext cx="1346200" cy="355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CLEM lane"/>
          <p:cNvSpPr/>
          <p:nvPr/>
        </p:nvSpPr>
        <p:spPr>
          <a:xfrm>
            <a:off x="1270000" y="4902200"/>
            <a:ext cx="6858000" cy="965200"/>
          </a:xfrm>
          <a:prstGeom prst="rect">
            <a:avLst/>
          </a:prstGeom>
          <a:solidFill>
            <a:srgbClr val="DAE3F3"/>
          </a:solidFill>
          <a:ln w="12700">
            <a:solidFill>
              <a:srgbClr val="4472C4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211" name="CLEM label"/>
          <p:cNvSpPr/>
          <p:nvPr/>
        </p:nvSpPr>
        <p:spPr>
          <a:xfrm>
            <a:off x="1371600" y="4902200"/>
            <a:ext cx="1397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dirty="0">
                <a:solidFill>
                  <a:srgbClr val="042354"/>
                </a:solidFill>
                <a:latin typeface="Arial"/>
                <a:cs typeface="Arial"/>
              </a:rPr>
              <a:t>P-CLEM</a:t>
            </a:r>
          </a:p>
          <a:p>
            <a:pPr algn="l"/>
            <a:r>
              <a:rPr lang="en-US" sz="1400" b="0" dirty="0">
                <a:solidFill>
                  <a:srgbClr val="042354"/>
                </a:solidFill>
                <a:latin typeface="Arial"/>
                <a:cs typeface="Arial"/>
              </a:rPr>
              <a:t>subordinate</a:t>
            </a:r>
          </a:p>
          <a:p>
            <a:pPr algn="l"/>
            <a:r>
              <a:rPr lang="en-US" sz="1400" b="0" dirty="0">
                <a:solidFill>
                  <a:srgbClr val="042354"/>
                </a:solidFill>
                <a:latin typeface="Arial"/>
                <a:cs typeface="Arial"/>
              </a:rPr>
              <a:t>to 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phi n"/>
              <p:cNvSpPr/>
              <p:nvPr/>
            </p:nvSpPr>
            <p:spPr>
              <a:xfrm>
                <a:off x="2819400" y="4902200"/>
                <a:ext cx="381000" cy="9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2" name="phi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902200"/>
                <a:ext cx="381000" cy="965200"/>
              </a:xfrm>
              <a:prstGeom prst="rect">
                <a:avLst/>
              </a:prstGeom>
              <a:blipFill>
                <a:blip r:embed="rId11"/>
                <a:stretch>
                  <a:fillRect l="-161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a1"/>
          <p:cNvCxnSpPr/>
          <p:nvPr/>
        </p:nvCxnSpPr>
        <p:spPr>
          <a:xfrm>
            <a:off x="3225800" y="5384800"/>
            <a:ext cx="228600" cy="0"/>
          </a:xfrm>
          <a:prstGeom prst="line">
            <a:avLst/>
          </a:prstGeom>
          <a:ln w="19050">
            <a:solidFill>
              <a:srgbClr val="042354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C box"/>
              <p:cNvSpPr/>
              <p:nvPr/>
            </p:nvSpPr>
            <p:spPr>
              <a:xfrm>
                <a:off x="3479800" y="5029200"/>
                <a:ext cx="1397000" cy="71120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4472C4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0">
                          <a:solidFill>
                            <a:srgbClr val="042354"/>
                          </a:solidFill>
                          <a:latin typeface="Cambria Math"/>
                        </a:rPr>
                        <m:t>𝒞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4235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𝛥</m:t>
                              </m:r>
                              <m: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LES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4" name="C box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800" y="5029200"/>
                <a:ext cx="1397000" cy="7112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S box"/>
              <p:cNvSpPr/>
              <p:nvPr/>
            </p:nvSpPr>
            <p:spPr>
              <a:xfrm>
                <a:off x="5156200" y="5029200"/>
                <a:ext cx="1397000" cy="711200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4472C4"/>
                </a:solidFill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0">
                          <a:solidFill>
                            <a:srgbClr val="042354"/>
                          </a:solidFill>
                          <a:latin typeface="Cambria Math"/>
                        </a:rPr>
                        <m:t>𝒮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4235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𝛥</m:t>
                              </m:r>
                              <m:r>
                                <a:rPr lang="en-US" sz="1600" i="1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042354"/>
                                  </a:solidFill>
                                  <a:latin typeface="Cambria Math"/>
                                </a:rPr>
                                <m:t>LES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16" name="S box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0" y="5029200"/>
                <a:ext cx="1397000" cy="71120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4472C4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a3"/>
          <p:cNvCxnSpPr/>
          <p:nvPr/>
        </p:nvCxnSpPr>
        <p:spPr>
          <a:xfrm>
            <a:off x="6578600" y="5384800"/>
            <a:ext cx="228600" cy="0"/>
          </a:xfrm>
          <a:prstGeom prst="line">
            <a:avLst/>
          </a:prstGeom>
          <a:ln w="19050">
            <a:solidFill>
              <a:srgbClr val="042354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phi n+1"/>
              <p:cNvSpPr/>
              <p:nvPr/>
            </p:nvSpPr>
            <p:spPr>
              <a:xfrm>
                <a:off x="6832600" y="4902200"/>
                <a:ext cx="812800" cy="9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600" i="1">
                              <a:solidFill>
                                <a:srgbClr val="042354"/>
                              </a:solidFill>
                              <a:latin typeface="Cambria Math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8" name="phi n+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4902200"/>
                <a:ext cx="812800" cy="965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0" name="Energy arrow"/>
          <p:cNvCxnSpPr/>
          <p:nvPr/>
        </p:nvCxnSpPr>
        <p:spPr>
          <a:xfrm>
            <a:off x="3810000" y="4318000"/>
            <a:ext cx="0" cy="558800"/>
          </a:xfrm>
          <a:prstGeom prst="line">
            <a:avLst/>
          </a:prstGeom>
          <a:ln w="22225">
            <a:solidFill>
              <a:srgbClr val="C00000"/>
            </a:solidFill>
            <a:headEnd type="triangl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Energy label"/>
              <p:cNvSpPr txBox="1"/>
              <p:nvPr/>
            </p:nvSpPr>
            <p:spPr>
              <a:xfrm>
                <a:off x="3911600" y="4330700"/>
                <a:ext cx="1778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de-DE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DE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  <m:r>
                        <a:rPr lang="en-US" sz="1400" i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de-DE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de-DE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/>
                <a:r>
                  <a:rPr lang="en-US" sz="1400" b="0" dirty="0">
                    <a:solidFill>
                      <a:srgbClr val="C00000"/>
                    </a:solidFill>
                    <a:latin typeface="Arial"/>
                    <a:cs typeface="Arial"/>
                  </a:rPr>
                  <a:t>energy-consistent</a:t>
                </a:r>
              </a:p>
            </p:txBody>
          </p:sp>
        </mc:Choice>
        <mc:Fallback xmlns="">
          <p:sp>
            <p:nvSpPr>
              <p:cNvPr id="261" name="Energy labe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00" y="4330700"/>
                <a:ext cx="1778000" cy="533400"/>
              </a:xfrm>
              <a:prstGeom prst="rect">
                <a:avLst/>
              </a:prstGeom>
              <a:blipFill>
                <a:blip r:embed="rId16"/>
                <a:stretch>
                  <a:fillRect l="-6186"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a1">
            <a:extLst>
              <a:ext uri="{FF2B5EF4-FFF2-40B4-BE49-F238E27FC236}">
                <a16:creationId xmlns:a16="http://schemas.microsoft.com/office/drawing/2014/main" id="{DA63DA7F-8816-0D44-237E-F699D707CA4E}"/>
              </a:ext>
            </a:extLst>
          </p:cNvPr>
          <p:cNvCxnSpPr/>
          <p:nvPr/>
        </p:nvCxnSpPr>
        <p:spPr>
          <a:xfrm>
            <a:off x="4900034" y="5384800"/>
            <a:ext cx="228600" cy="0"/>
          </a:xfrm>
          <a:prstGeom prst="line">
            <a:avLst/>
          </a:prstGeom>
          <a:ln w="19050">
            <a:solidFill>
              <a:srgbClr val="042354"/>
            </a:solidFill>
            <a:tailEnd type="triangle" w="med" len="med"/>
          </a:ln>
        </p:spPr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CE8560A8-2D32-4F79-C9AE-04EB1C1653FF}"/>
              </a:ext>
            </a:extLst>
          </p:cNvPr>
          <p:cNvSpPr txBox="1"/>
          <p:nvPr/>
        </p:nvSpPr>
        <p:spPr>
          <a:xfrm>
            <a:off x="3104284" y="5900071"/>
            <a:ext cx="339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b="1" dirty="0"/>
              <a:t>Flowchart for LES – CLEM </a:t>
            </a:r>
            <a:r>
              <a:rPr lang="de-DE" sz="1050" b="1" dirty="0" err="1"/>
              <a:t>numerical</a:t>
            </a:r>
            <a:r>
              <a:rPr lang="de-DE" sz="1050" b="1" dirty="0"/>
              <a:t> </a:t>
            </a:r>
            <a:r>
              <a:rPr lang="de-DE" sz="1050" b="1" dirty="0" err="1"/>
              <a:t>simulation</a:t>
            </a:r>
            <a:endParaRPr lang="de-DE" sz="1050" b="1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2DE5999-B5A9-E81C-146B-85D321B2DD3E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6" name="Rectángulo 6">
              <a:extLst>
                <a:ext uri="{FF2B5EF4-FFF2-40B4-BE49-F238E27FC236}">
                  <a16:creationId xmlns:a16="http://schemas.microsoft.com/office/drawing/2014/main" id="{C81AC4FB-2125-4DFC-8B9B-E1402A5114D8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7" name="Imagen 7">
              <a:extLst>
                <a:ext uri="{FF2B5EF4-FFF2-40B4-BE49-F238E27FC236}">
                  <a16:creationId xmlns:a16="http://schemas.microsoft.com/office/drawing/2014/main" id="{6ADB67EF-8ADF-5E36-44FA-9C001939554F}"/>
                </a:ext>
              </a:extLst>
            </p:cNvPr>
            <p:cNvPicPr/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Imagen 8">
              <a:extLst>
                <a:ext uri="{FF2B5EF4-FFF2-40B4-BE49-F238E27FC236}">
                  <a16:creationId xmlns:a16="http://schemas.microsoft.com/office/drawing/2014/main" id="{F7749602-DB03-4C72-E59D-A8C8A575DB69}"/>
                </a:ext>
              </a:extLst>
            </p:cNvPr>
            <p:cNvPicPr/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9" name="Imagen 9">
              <a:extLst>
                <a:ext uri="{FF2B5EF4-FFF2-40B4-BE49-F238E27FC236}">
                  <a16:creationId xmlns:a16="http://schemas.microsoft.com/office/drawing/2014/main" id="{E5932A8D-F444-8883-1A61-A44533E20329}"/>
                </a:ext>
              </a:extLst>
            </p:cNvPr>
            <p:cNvPicPr/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0F4EA3A6-133F-BEC8-FA05-5A481C12A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62D41661-4172-5C04-C7E5-3C7D4B06B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216D98E-1F0D-195A-28FB-991D35480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55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7374-4A67-9CFE-9564-8F108C24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CEE41FAE-EEFE-20BA-199D-917AAB2EFC5A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LEM Representation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9B461BB6-9F8D-FE61-1FD2-D3535952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9" y="1233577"/>
            <a:ext cx="8304516" cy="2514600"/>
          </a:xfrm>
        </p:spPr>
        <p:txBody>
          <a:bodyPr lIns="100796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LEM domain is an ordered particle ensemble carrying T, Y, mass, volume, and pressure.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 coordinate: thermal expansion is intrinsic 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on AMReX particles in PeleC, allowing scalability.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BBA5942-BAA2-3700-890B-7496A088A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980" y="2906151"/>
            <a:ext cx="5444214" cy="224774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40C171-7058-29F9-7262-133BEBA52E4E}"/>
              </a:ext>
            </a:extLst>
          </p:cNvPr>
          <p:cNvSpPr txBox="1"/>
          <p:nvPr/>
        </p:nvSpPr>
        <p:spPr>
          <a:xfrm>
            <a:off x="2733092" y="4924769"/>
            <a:ext cx="33926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/>
              <a:t>Computational </a:t>
            </a:r>
            <a:r>
              <a:rPr lang="de-DE" sz="1050" b="1" dirty="0" err="1"/>
              <a:t>representation</a:t>
            </a:r>
            <a:r>
              <a:rPr lang="de-DE" sz="1050" b="1" dirty="0"/>
              <a:t> of the </a:t>
            </a:r>
            <a:r>
              <a:rPr lang="de-DE" sz="1050" b="1" dirty="0" err="1"/>
              <a:t>particle</a:t>
            </a:r>
            <a:r>
              <a:rPr lang="de-DE" sz="1050" b="1" dirty="0"/>
              <a:t> </a:t>
            </a:r>
            <a:r>
              <a:rPr lang="de-DE" sz="1050" b="1" dirty="0" err="1"/>
              <a:t>ensembles</a:t>
            </a:r>
            <a:r>
              <a:rPr lang="de-DE" sz="1050" b="1" dirty="0"/>
              <a:t> in a LES </a:t>
            </a:r>
            <a:r>
              <a:rPr lang="de-DE" sz="1050" b="1" dirty="0" err="1"/>
              <a:t>cell</a:t>
            </a:r>
            <a:r>
              <a:rPr lang="de-DE" sz="1050" b="1" dirty="0"/>
              <a:t>. </a:t>
            </a:r>
            <a:r>
              <a:rPr lang="de-DE" sz="1050" b="1" dirty="0" err="1"/>
              <a:t>Particle</a:t>
            </a:r>
            <a:r>
              <a:rPr lang="de-DE" sz="1050" b="1" dirty="0"/>
              <a:t> </a:t>
            </a:r>
            <a:r>
              <a:rPr lang="de-DE" sz="1050" b="1" dirty="0" err="1"/>
              <a:t>ensembles</a:t>
            </a:r>
            <a:r>
              <a:rPr lang="de-DE" sz="1050" b="1" dirty="0"/>
              <a:t> </a:t>
            </a:r>
            <a:r>
              <a:rPr lang="de-DE" sz="1050" b="1" dirty="0" err="1"/>
              <a:t>are</a:t>
            </a:r>
            <a:r>
              <a:rPr lang="de-DE" sz="1050" b="1" dirty="0"/>
              <a:t> </a:t>
            </a:r>
            <a:r>
              <a:rPr lang="de-DE" sz="1050" b="1" dirty="0" err="1"/>
              <a:t>oriented</a:t>
            </a:r>
            <a:r>
              <a:rPr lang="de-DE" sz="1050" b="1" dirty="0"/>
              <a:t> in the </a:t>
            </a:r>
            <a:r>
              <a:rPr lang="de-DE" sz="1050" b="1" dirty="0" err="1"/>
              <a:t>flow</a:t>
            </a:r>
            <a:r>
              <a:rPr lang="de-DE" sz="1050" b="1" dirty="0"/>
              <a:t> </a:t>
            </a:r>
            <a:r>
              <a:rPr lang="de-DE" sz="1050" b="1" dirty="0" err="1"/>
              <a:t>direction</a:t>
            </a:r>
            <a:r>
              <a:rPr lang="de-DE" sz="1050" b="1" dirty="0"/>
              <a:t>.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85A615D-C21C-09C0-5F29-5577CBAEF181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8" name="Rectángulo 6">
              <a:extLst>
                <a:ext uri="{FF2B5EF4-FFF2-40B4-BE49-F238E27FC236}">
                  <a16:creationId xmlns:a16="http://schemas.microsoft.com/office/drawing/2014/main" id="{0C24CEA8-955D-B54E-1637-AB484642E49E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9" name="Imagen 7">
              <a:extLst>
                <a:ext uri="{FF2B5EF4-FFF2-40B4-BE49-F238E27FC236}">
                  <a16:creationId xmlns:a16="http://schemas.microsoft.com/office/drawing/2014/main" id="{CD8AFA31-17C4-19EA-D259-8F622B7F6AE0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Imagen 8">
              <a:extLst>
                <a:ext uri="{FF2B5EF4-FFF2-40B4-BE49-F238E27FC236}">
                  <a16:creationId xmlns:a16="http://schemas.microsoft.com/office/drawing/2014/main" id="{E3BBA2CE-5AEE-C0DF-CF9A-D39A0853F7CC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1" name="Imagen 9">
              <a:extLst>
                <a:ext uri="{FF2B5EF4-FFF2-40B4-BE49-F238E27FC236}">
                  <a16:creationId xmlns:a16="http://schemas.microsoft.com/office/drawing/2014/main" id="{AB9455F8-69FD-6BA6-E940-D7FDD3507A90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878BCABD-47D7-4934-7A89-6EA63C28E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ADA21B5-C880-1C74-F3D5-85B45FDE9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A122FEAA-7DC6-BDEC-09CE-B731DB1C9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01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D91B-7E3B-B01B-2136-AB97B343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9071BEFB-19A7-6CF5-EF9E-3C9B95290AB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Stirring and resolved field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0B8A479-A3C1-442D-715A-C6EBBEA02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7779" y="4127499"/>
                <a:ext cx="7886700" cy="2362200"/>
              </a:xfrm>
            </p:spPr>
            <p:txBody>
              <a:bodyPr/>
              <a:lstStyle/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b="1" dirty="0">
                    <a:solidFill>
                      <a:srgbClr val="042354"/>
                    </a:solidFill>
                    <a:latin typeface="Arial"/>
                    <a:cs typeface="Arial"/>
                  </a:rPr>
                  <a:t>A priori assessment:</a:t>
                </a:r>
              </a:p>
              <a:p>
                <a:pPr marL="742950" lvl="1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The eddy size that carries most of the molecular mixing (stirring) is only cell size 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20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r>
                              <a:rPr lang="en-US" sz="120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𝑟</m:t>
                            </m:r>
                          </m:e>
                        </m:d>
                      </m:e>
                      <m:sub>
                        <m:r>
                          <a:rPr lang="en-US" sz="120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𝑤</m:t>
                        </m:r>
                      </m:sub>
                    </m:sSub>
                    <m:r>
                      <a:rPr lang="en-US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=0.57 </m:t>
                    </m:r>
                    <m:bar>
                      <m:barPr>
                        <m:pos m:val="top"/>
                        <m:ctrlPr>
                          <a:rPr lang="en-US" sz="120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barPr>
                      <m:e>
                        <m:r>
                          <a:rPr lang="en-US" sz="120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𝛥</m:t>
                        </m:r>
                      </m:e>
                    </m:bar>
                    <m:r>
                      <a:rPr lang="de-DE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, with (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𝜂</m:t>
                    </m:r>
                    <m:r>
                      <a:rPr lang="en-US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/</m:t>
                    </m:r>
                    <m:bar>
                      <m:barPr>
                        <m:pos m:val="top"/>
                        <m:ctrlPr>
                          <a:rPr lang="en-US" sz="120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barPr>
                      <m:e>
                        <m:r>
                          <a:rPr lang="en-US" sz="120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𝛥</m:t>
                        </m:r>
                      </m:e>
                    </m:bar>
                    <m:r>
                      <a:rPr lang="en-US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≪1</m:t>
                    </m:r>
                    <m:r>
                      <a:rPr lang="de-DE" sz="1200">
                        <a:solidFill>
                          <a:srgbClr val="042354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de-DE" sz="1200" b="0" dirty="0">
                    <a:solidFill>
                      <a:srgbClr val="042354"/>
                    </a:solidFill>
                    <a:latin typeface="Arial"/>
                    <a:cs typeface="Arial"/>
                  </a:rPr>
                  <a:t>, not </a:t>
                </a:r>
                <a:r>
                  <a:rPr lang="de-DE" sz="1200" b="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influenced</a:t>
                </a:r>
                <a:r>
                  <a:rPr lang="de-DE" sz="1200" b="0" dirty="0">
                    <a:solidFill>
                      <a:srgbClr val="042354"/>
                    </a:solidFill>
                    <a:latin typeface="Arial"/>
                    <a:cs typeface="Arial"/>
                  </a:rPr>
                  <a:t> by </a:t>
                </a:r>
                <a:r>
                  <a:rPr lang="de-DE" sz="1200" b="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flow</a:t>
                </a:r>
                <a:r>
                  <a:rPr lang="de-DE" sz="1200" b="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b="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state</a:t>
                </a:r>
                <a:r>
                  <a:rPr lang="de-DE" sz="1200" b="0" dirty="0">
                    <a:solidFill>
                      <a:srgbClr val="042354"/>
                    </a:solidFill>
                    <a:latin typeface="Arial"/>
                    <a:cs typeface="Arial"/>
                  </a:rPr>
                  <a:t>.</a:t>
                </a:r>
              </a:p>
              <a:p>
                <a:pPr marL="742950" lvl="1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Frequency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of the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stirring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effect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is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heavily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determined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by the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turbulence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:r>
                  <a:rPr lang="de-DE" sz="1200" dirty="0" err="1">
                    <a:solidFill>
                      <a:srgbClr val="042354"/>
                    </a:solidFill>
                    <a:latin typeface="Arial"/>
                    <a:cs typeface="Arial"/>
                  </a:rPr>
                  <a:t>closure</a:t>
                </a:r>
                <a:r>
                  <a:rPr lang="de-DE" sz="1200" dirty="0">
                    <a:solidFill>
                      <a:srgbClr val="042354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42354"/>
                        </a:solidFill>
                        <a:latin typeface="Cambria Math"/>
                      </a:rPr>
                      <m:t>𝛬</m:t>
                    </m:r>
                    <m:r>
                      <a:rPr lang="en-US" sz="1200" i="0">
                        <a:solidFill>
                          <a:srgbClr val="042354"/>
                        </a:solidFill>
                        <a:latin typeface="Cambria Math"/>
                      </a:rPr>
                      <m:t>∝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  <m:t>𝜈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1200" i="0">
                            <a:solidFill>
                              <a:srgbClr val="042354"/>
                            </a:solidFill>
                            <a:latin typeface="Cambria Math"/>
                          </a:rPr>
                          <m:t>17/12</m:t>
                        </m:r>
                      </m:sup>
                    </m:sSup>
                    <m:sSup>
                      <m:sSupPr>
                        <m:ctrlPr>
                          <a:rPr lang="en-US" sz="12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</m:d>
                      </m:e>
                      <m:sup>
                        <m:r>
                          <a:rPr lang="en-US" sz="1200" i="0">
                            <a:solidFill>
                              <a:srgbClr val="042354"/>
                            </a:solidFill>
                            <a:latin typeface="Cambria Math"/>
                          </a:rPr>
                          <m:t>5/6</m:t>
                        </m:r>
                      </m:sup>
                    </m:sSup>
                    <m:sSup>
                      <m:sSupPr>
                        <m:ctrlPr>
                          <a:rPr lang="en-US" sz="1200" i="1">
                            <a:solidFill>
                              <a:srgbClr val="04235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042354"/>
                            </a:solidFill>
                            <a:latin typeface="Cambria Math"/>
                          </a:rPr>
                          <m:t>𝜈</m:t>
                        </m:r>
                      </m:e>
                      <m:sup>
                        <m:r>
                          <a:rPr lang="en-US" sz="1200" i="0">
                            <a:solidFill>
                              <a:srgbClr val="042354"/>
                            </a:solidFill>
                            <a:latin typeface="Cambria Math"/>
                          </a:rPr>
                          <m:t>−5/4</m:t>
                        </m:r>
                      </m:sup>
                    </m:sSup>
                    <m:sSup>
                      <m:sSupPr>
                        <m:ctrlPr>
                          <a:rPr lang="en-US" sz="1200" i="1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</m:ctrlPr>
                          </m:barPr>
                          <m:e>
                            <m:r>
                              <a:rPr lang="en-US" sz="1200" i="1">
                                <a:solidFill>
                                  <a:srgbClr val="042354"/>
                                </a:solidFill>
                                <a:latin typeface="Cambria Math"/>
                              </a:rPr>
                              <m:t>𝛥</m:t>
                            </m:r>
                          </m:e>
                        </m:bar>
                      </m:e>
                      <m:sup>
                        <m:r>
                          <a:rPr lang="en-US" sz="1200" i="0">
                            <a:solidFill>
                              <a:srgbClr val="042354"/>
                            </a:solidFill>
                            <a:latin typeface="Cambria Math"/>
                          </a:rPr>
                          <m:t>−4/3</m:t>
                        </m:r>
                      </m:sup>
                    </m:sSup>
                  </m:oMath>
                </a14:m>
                <a:endParaRPr lang="de-DE" sz="1200" dirty="0">
                  <a:solidFill>
                    <a:srgbClr val="042354"/>
                  </a:solidFill>
                  <a:latin typeface="Arial"/>
                </a:endParaRPr>
              </a:p>
              <a:p>
                <a:pPr marL="742950" lvl="1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200" b="1" dirty="0">
                    <a:solidFill>
                      <a:srgbClr val="042354"/>
                    </a:solidFill>
                    <a:latin typeface="Arial"/>
                    <a:cs typeface="Arial"/>
                  </a:rPr>
                  <a:t>Effect: </a:t>
                </a:r>
                <a:r>
                  <a:rPr lang="en-US" sz="1200" b="0" dirty="0">
                    <a:solidFill>
                      <a:srgbClr val="042354"/>
                    </a:solidFill>
                    <a:latin typeface="Arial"/>
                    <a:cs typeface="Arial"/>
                  </a:rPr>
                  <a:t>particles are reordered, high-order statistics are held, and gradients steepen so molecular mixing acts faster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0B8A479-A3C1-442D-715A-C6EBBEA02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779" y="4127499"/>
                <a:ext cx="7886700" cy="2362200"/>
              </a:xfrm>
              <a:blipFill>
                <a:blip r:embed="rId2"/>
                <a:stretch>
                  <a:fillRect l="-309" t="-18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Before label"/>
          <p:cNvSpPr/>
          <p:nvPr/>
        </p:nvSpPr>
        <p:spPr>
          <a:xfrm>
            <a:off x="800100" y="863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Before stirring: particles ordered 1–16</a:t>
            </a:r>
          </a:p>
        </p:txBody>
      </p:sp>
      <p:sp>
        <p:nvSpPr>
          <p:cNvPr id="400" name="Before 1"/>
          <p:cNvSpPr/>
          <p:nvPr/>
        </p:nvSpPr>
        <p:spPr>
          <a:xfrm>
            <a:off x="800100" y="1168400"/>
            <a:ext cx="419100" cy="508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01" name="Before 2"/>
          <p:cNvSpPr/>
          <p:nvPr/>
        </p:nvSpPr>
        <p:spPr>
          <a:xfrm>
            <a:off x="1270000" y="1168400"/>
            <a:ext cx="419100" cy="5080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02" name="Before 3"/>
          <p:cNvSpPr/>
          <p:nvPr/>
        </p:nvSpPr>
        <p:spPr>
          <a:xfrm>
            <a:off x="1739900" y="1168400"/>
            <a:ext cx="419100" cy="508000"/>
          </a:xfrm>
          <a:prstGeom prst="rect">
            <a:avLst/>
          </a:prstGeom>
          <a:solidFill>
            <a:srgbClr val="BDC9D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03" name="Before 4"/>
          <p:cNvSpPr/>
          <p:nvPr/>
        </p:nvSpPr>
        <p:spPr>
          <a:xfrm>
            <a:off x="2209800" y="1168400"/>
            <a:ext cx="419100" cy="508000"/>
          </a:xfrm>
          <a:prstGeom prst="rect">
            <a:avLst/>
          </a:prstGeom>
          <a:solidFill>
            <a:srgbClr val="AFBDD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04" name="Before 5"/>
          <p:cNvSpPr/>
          <p:nvPr/>
        </p:nvSpPr>
        <p:spPr>
          <a:xfrm>
            <a:off x="2679700" y="1168400"/>
            <a:ext cx="419100" cy="508000"/>
          </a:xfrm>
          <a:prstGeom prst="rect">
            <a:avLst/>
          </a:prstGeom>
          <a:solidFill>
            <a:srgbClr val="A1B0C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405" name="Before 6"/>
          <p:cNvSpPr/>
          <p:nvPr/>
        </p:nvSpPr>
        <p:spPr>
          <a:xfrm>
            <a:off x="3149600" y="1168400"/>
            <a:ext cx="419100" cy="508000"/>
          </a:xfrm>
          <a:prstGeom prst="rect">
            <a:avLst/>
          </a:prstGeom>
          <a:solidFill>
            <a:srgbClr val="93A3B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406" name="Before 7"/>
          <p:cNvSpPr/>
          <p:nvPr/>
        </p:nvSpPr>
        <p:spPr>
          <a:xfrm>
            <a:off x="3619500" y="1168400"/>
            <a:ext cx="419100" cy="508000"/>
          </a:xfrm>
          <a:prstGeom prst="rect">
            <a:avLst/>
          </a:prstGeom>
          <a:solidFill>
            <a:srgbClr val="8496B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407" name="Before 8"/>
          <p:cNvSpPr/>
          <p:nvPr/>
        </p:nvSpPr>
        <p:spPr>
          <a:xfrm>
            <a:off x="4089400" y="1168400"/>
            <a:ext cx="419100" cy="508000"/>
          </a:xfrm>
          <a:prstGeom prst="rect">
            <a:avLst/>
          </a:prstGeom>
          <a:solidFill>
            <a:srgbClr val="7689A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08" name="Before 9"/>
          <p:cNvSpPr/>
          <p:nvPr/>
        </p:nvSpPr>
        <p:spPr>
          <a:xfrm>
            <a:off x="4559300" y="1168400"/>
            <a:ext cx="419100" cy="508000"/>
          </a:xfrm>
          <a:prstGeom prst="rect">
            <a:avLst/>
          </a:prstGeom>
          <a:solidFill>
            <a:srgbClr val="687D9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409" name="Before 10"/>
          <p:cNvSpPr/>
          <p:nvPr/>
        </p:nvSpPr>
        <p:spPr>
          <a:xfrm>
            <a:off x="5029200" y="1168400"/>
            <a:ext cx="419100" cy="508000"/>
          </a:xfrm>
          <a:prstGeom prst="rect">
            <a:avLst/>
          </a:prstGeom>
          <a:solidFill>
            <a:srgbClr val="5A709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10" name="Before 11"/>
          <p:cNvSpPr/>
          <p:nvPr/>
        </p:nvSpPr>
        <p:spPr>
          <a:xfrm>
            <a:off x="5499100" y="1168400"/>
            <a:ext cx="419100" cy="508000"/>
          </a:xfrm>
          <a:prstGeom prst="rect">
            <a:avLst/>
          </a:prstGeom>
          <a:solidFill>
            <a:srgbClr val="4B638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411" name="Before 12"/>
          <p:cNvSpPr/>
          <p:nvPr/>
        </p:nvSpPr>
        <p:spPr>
          <a:xfrm>
            <a:off x="5969000" y="1168400"/>
            <a:ext cx="419100" cy="508000"/>
          </a:xfrm>
          <a:prstGeom prst="rect">
            <a:avLst/>
          </a:prstGeom>
          <a:solidFill>
            <a:srgbClr val="3D567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412" name="Before 13"/>
          <p:cNvSpPr/>
          <p:nvPr/>
        </p:nvSpPr>
        <p:spPr>
          <a:xfrm>
            <a:off x="6438900" y="1168400"/>
            <a:ext cx="419100" cy="508000"/>
          </a:xfrm>
          <a:prstGeom prst="rect">
            <a:avLst/>
          </a:prstGeom>
          <a:solidFill>
            <a:srgbClr val="2F497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413" name="Before 14"/>
          <p:cNvSpPr/>
          <p:nvPr/>
        </p:nvSpPr>
        <p:spPr>
          <a:xfrm>
            <a:off x="6908800" y="1168400"/>
            <a:ext cx="419100" cy="508000"/>
          </a:xfrm>
          <a:prstGeom prst="rect">
            <a:avLst/>
          </a:prstGeom>
          <a:solidFill>
            <a:srgbClr val="213D6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414" name="Before 15"/>
          <p:cNvSpPr/>
          <p:nvPr/>
        </p:nvSpPr>
        <p:spPr>
          <a:xfrm>
            <a:off x="7378700" y="1168400"/>
            <a:ext cx="419100" cy="508000"/>
          </a:xfrm>
          <a:prstGeom prst="rect">
            <a:avLst/>
          </a:prstGeom>
          <a:solidFill>
            <a:srgbClr val="12305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415" name="Before 16"/>
          <p:cNvSpPr/>
          <p:nvPr/>
        </p:nvSpPr>
        <p:spPr>
          <a:xfrm>
            <a:off x="7848600" y="1168400"/>
            <a:ext cx="419100" cy="508000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416" name="After 1"/>
          <p:cNvSpPr/>
          <p:nvPr/>
        </p:nvSpPr>
        <p:spPr>
          <a:xfrm>
            <a:off x="800100" y="2641600"/>
            <a:ext cx="419100" cy="508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17" name="After 2"/>
          <p:cNvSpPr/>
          <p:nvPr/>
        </p:nvSpPr>
        <p:spPr>
          <a:xfrm>
            <a:off x="1270000" y="2641600"/>
            <a:ext cx="419100" cy="5080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18" name="After 3"/>
          <p:cNvSpPr/>
          <p:nvPr/>
        </p:nvSpPr>
        <p:spPr>
          <a:xfrm>
            <a:off x="1739900" y="2641600"/>
            <a:ext cx="419100" cy="508000"/>
          </a:xfrm>
          <a:prstGeom prst="rect">
            <a:avLst/>
          </a:prstGeom>
          <a:solidFill>
            <a:srgbClr val="BDC9D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19" name="After 4"/>
          <p:cNvSpPr/>
          <p:nvPr/>
        </p:nvSpPr>
        <p:spPr>
          <a:xfrm>
            <a:off x="2209800" y="2641600"/>
            <a:ext cx="419100" cy="508000"/>
          </a:xfrm>
          <a:prstGeom prst="rect">
            <a:avLst/>
          </a:prstGeom>
          <a:solidFill>
            <a:srgbClr val="AFBDD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20" name="After 5"/>
          <p:cNvSpPr/>
          <p:nvPr/>
        </p:nvSpPr>
        <p:spPr>
          <a:xfrm>
            <a:off x="2679700" y="2641600"/>
            <a:ext cx="419100" cy="508000"/>
          </a:xfrm>
          <a:prstGeom prst="rect">
            <a:avLst/>
          </a:prstGeom>
          <a:solidFill>
            <a:srgbClr val="A1B0C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421" name="After 8"/>
          <p:cNvSpPr/>
          <p:nvPr/>
        </p:nvSpPr>
        <p:spPr>
          <a:xfrm>
            <a:off x="3149600" y="2641600"/>
            <a:ext cx="419100" cy="508000"/>
          </a:xfrm>
          <a:prstGeom prst="rect">
            <a:avLst/>
          </a:prstGeom>
          <a:solidFill>
            <a:srgbClr val="7689A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22" name="After 11"/>
          <p:cNvSpPr/>
          <p:nvPr/>
        </p:nvSpPr>
        <p:spPr>
          <a:xfrm>
            <a:off x="3619500" y="2641600"/>
            <a:ext cx="419100" cy="508000"/>
          </a:xfrm>
          <a:prstGeom prst="rect">
            <a:avLst/>
          </a:prstGeom>
          <a:solidFill>
            <a:srgbClr val="4B638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423" name="After 12"/>
          <p:cNvSpPr/>
          <p:nvPr/>
        </p:nvSpPr>
        <p:spPr>
          <a:xfrm>
            <a:off x="4089400" y="2641600"/>
            <a:ext cx="419100" cy="508000"/>
          </a:xfrm>
          <a:prstGeom prst="rect">
            <a:avLst/>
          </a:prstGeom>
          <a:solidFill>
            <a:srgbClr val="3D567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424" name="After 9"/>
          <p:cNvSpPr/>
          <p:nvPr/>
        </p:nvSpPr>
        <p:spPr>
          <a:xfrm>
            <a:off x="4559300" y="2641600"/>
            <a:ext cx="419100" cy="508000"/>
          </a:xfrm>
          <a:prstGeom prst="rect">
            <a:avLst/>
          </a:prstGeom>
          <a:solidFill>
            <a:srgbClr val="687D9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425" name="After 6"/>
          <p:cNvSpPr/>
          <p:nvPr/>
        </p:nvSpPr>
        <p:spPr>
          <a:xfrm>
            <a:off x="5029200" y="2641600"/>
            <a:ext cx="419100" cy="508000"/>
          </a:xfrm>
          <a:prstGeom prst="rect">
            <a:avLst/>
          </a:prstGeom>
          <a:solidFill>
            <a:srgbClr val="93A3BE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426" name="After 7"/>
          <p:cNvSpPr/>
          <p:nvPr/>
        </p:nvSpPr>
        <p:spPr>
          <a:xfrm>
            <a:off x="5499100" y="2641600"/>
            <a:ext cx="419100" cy="508000"/>
          </a:xfrm>
          <a:prstGeom prst="rect">
            <a:avLst/>
          </a:prstGeom>
          <a:solidFill>
            <a:srgbClr val="8496B3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427" name="After 10"/>
          <p:cNvSpPr/>
          <p:nvPr/>
        </p:nvSpPr>
        <p:spPr>
          <a:xfrm>
            <a:off x="5969000" y="2641600"/>
            <a:ext cx="419100" cy="508000"/>
          </a:xfrm>
          <a:prstGeom prst="rect">
            <a:avLst/>
          </a:prstGeom>
          <a:solidFill>
            <a:srgbClr val="5A709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28" name="After 13"/>
          <p:cNvSpPr/>
          <p:nvPr/>
        </p:nvSpPr>
        <p:spPr>
          <a:xfrm>
            <a:off x="6438900" y="2641600"/>
            <a:ext cx="419100" cy="508000"/>
          </a:xfrm>
          <a:prstGeom prst="rect">
            <a:avLst/>
          </a:prstGeom>
          <a:solidFill>
            <a:srgbClr val="2F497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429" name="After 14"/>
          <p:cNvSpPr/>
          <p:nvPr/>
        </p:nvSpPr>
        <p:spPr>
          <a:xfrm>
            <a:off x="6908800" y="2641600"/>
            <a:ext cx="419100" cy="508000"/>
          </a:xfrm>
          <a:prstGeom prst="rect">
            <a:avLst/>
          </a:prstGeom>
          <a:solidFill>
            <a:srgbClr val="213D69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430" name="After 15"/>
          <p:cNvSpPr/>
          <p:nvPr/>
        </p:nvSpPr>
        <p:spPr>
          <a:xfrm>
            <a:off x="7378700" y="2641600"/>
            <a:ext cx="419100" cy="508000"/>
          </a:xfrm>
          <a:prstGeom prst="rect">
            <a:avLst/>
          </a:prstGeom>
          <a:solidFill>
            <a:srgbClr val="12305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431" name="After 16"/>
          <p:cNvSpPr/>
          <p:nvPr/>
        </p:nvSpPr>
        <p:spPr>
          <a:xfrm>
            <a:off x="7848600" y="2641600"/>
            <a:ext cx="419100" cy="508000"/>
          </a:xfrm>
          <a:prstGeom prst="rect">
            <a:avLst/>
          </a:prstGeom>
          <a:solidFill>
            <a:srgbClr val="04235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</a:p>
        </p:txBody>
      </p:sp>
      <p:cxnSp>
        <p:nvCxnSpPr>
          <p:cNvPr id="432" name="Map 1"/>
          <p:cNvCxnSpPr/>
          <p:nvPr/>
        </p:nvCxnSpPr>
        <p:spPr>
          <a:xfrm>
            <a:off x="10096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33" name="Map 2"/>
          <p:cNvCxnSpPr/>
          <p:nvPr/>
        </p:nvCxnSpPr>
        <p:spPr>
          <a:xfrm>
            <a:off x="14795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34" name="Map 3"/>
          <p:cNvCxnSpPr/>
          <p:nvPr/>
        </p:nvCxnSpPr>
        <p:spPr>
          <a:xfrm>
            <a:off x="19494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35" name="Map 4"/>
          <p:cNvCxnSpPr/>
          <p:nvPr/>
        </p:nvCxnSpPr>
        <p:spPr>
          <a:xfrm>
            <a:off x="24193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36" name="Map 5"/>
          <p:cNvCxnSpPr/>
          <p:nvPr/>
        </p:nvCxnSpPr>
        <p:spPr>
          <a:xfrm>
            <a:off x="28892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37" name="Map 8"/>
          <p:cNvCxnSpPr/>
          <p:nvPr/>
        </p:nvCxnSpPr>
        <p:spPr>
          <a:xfrm flipH="1">
            <a:off x="3359150" y="1701800"/>
            <a:ext cx="9398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38" name="Map 11"/>
          <p:cNvCxnSpPr/>
          <p:nvPr/>
        </p:nvCxnSpPr>
        <p:spPr>
          <a:xfrm flipH="1">
            <a:off x="3829050" y="1701800"/>
            <a:ext cx="18796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39" name="Map 12"/>
          <p:cNvCxnSpPr/>
          <p:nvPr/>
        </p:nvCxnSpPr>
        <p:spPr>
          <a:xfrm flipH="1">
            <a:off x="4298950" y="1701800"/>
            <a:ext cx="18796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40" name="Map 9"/>
          <p:cNvCxnSpPr/>
          <p:nvPr/>
        </p:nvCxnSpPr>
        <p:spPr>
          <a:xfrm>
            <a:off x="47688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41" name="Map 6"/>
          <p:cNvCxnSpPr/>
          <p:nvPr/>
        </p:nvCxnSpPr>
        <p:spPr>
          <a:xfrm>
            <a:off x="3359150" y="1701800"/>
            <a:ext cx="18796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42" name="Map 7"/>
          <p:cNvCxnSpPr/>
          <p:nvPr/>
        </p:nvCxnSpPr>
        <p:spPr>
          <a:xfrm>
            <a:off x="3829050" y="1701800"/>
            <a:ext cx="18796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43" name="Map 10"/>
          <p:cNvCxnSpPr/>
          <p:nvPr/>
        </p:nvCxnSpPr>
        <p:spPr>
          <a:xfrm>
            <a:off x="5238750" y="1701800"/>
            <a:ext cx="939800" cy="863600"/>
          </a:xfrm>
          <a:prstGeom prst="line">
            <a:avLst/>
          </a:prstGeom>
          <a:ln w="19050">
            <a:solidFill>
              <a:srgbClr val="4472C4"/>
            </a:solidFill>
            <a:tailEnd type="triangle" w="sm" len="sm"/>
          </a:ln>
        </p:spPr>
      </p:cxnSp>
      <p:cxnSp>
        <p:nvCxnSpPr>
          <p:cNvPr id="444" name="Map 13"/>
          <p:cNvCxnSpPr/>
          <p:nvPr/>
        </p:nvCxnSpPr>
        <p:spPr>
          <a:xfrm>
            <a:off x="66484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45" name="Map 14"/>
          <p:cNvCxnSpPr/>
          <p:nvPr/>
        </p:nvCxnSpPr>
        <p:spPr>
          <a:xfrm>
            <a:off x="71183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46" name="Map 15"/>
          <p:cNvCxnSpPr/>
          <p:nvPr/>
        </p:nvCxnSpPr>
        <p:spPr>
          <a:xfrm>
            <a:off x="75882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cxnSp>
        <p:nvCxnSpPr>
          <p:cNvPr id="447" name="Map 16"/>
          <p:cNvCxnSpPr/>
          <p:nvPr/>
        </p:nvCxnSpPr>
        <p:spPr>
          <a:xfrm>
            <a:off x="8058150" y="1701800"/>
            <a:ext cx="0" cy="863600"/>
          </a:xfrm>
          <a:prstGeom prst="line">
            <a:avLst/>
          </a:prstGeom>
          <a:ln w="9525">
            <a:solidFill>
              <a:srgbClr val="A5A5A5"/>
            </a:solidFill>
            <a:tailEnd type="triangle" w="sm" len="sm"/>
          </a:ln>
        </p:spPr>
      </p:cxnSp>
      <p:sp>
        <p:nvSpPr>
          <p:cNvPr id="313" name="Eddy span"/>
          <p:cNvSpPr/>
          <p:nvPr/>
        </p:nvSpPr>
        <p:spPr>
          <a:xfrm>
            <a:off x="2628900" y="2590800"/>
            <a:ext cx="4279900" cy="609600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none" lIns="0" tIns="0" rIns="0" bIns="0" anchor="ctr">
            <a:noAutofit/>
          </a:bodyPr>
          <a:lstStyle/>
          <a:p>
            <a:endParaRPr lang="en-US"/>
          </a:p>
        </p:txBody>
      </p:sp>
      <p:cxnSp>
        <p:nvCxnSpPr>
          <p:cNvPr id="339" name="Bracket base"/>
          <p:cNvCxnSpPr/>
          <p:nvPr/>
        </p:nvCxnSpPr>
        <p:spPr>
          <a:xfrm>
            <a:off x="2628900" y="3352800"/>
            <a:ext cx="4279900" cy="0"/>
          </a:xfrm>
          <a:prstGeom prst="line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40" name="Bracket L"/>
          <p:cNvCxnSpPr/>
          <p:nvPr/>
        </p:nvCxnSpPr>
        <p:spPr>
          <a:xfrm>
            <a:off x="2628900" y="3276600"/>
            <a:ext cx="0" cy="76200"/>
          </a:xfrm>
          <a:prstGeom prst="line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41" name="Bracket R"/>
          <p:cNvCxnSpPr/>
          <p:nvPr/>
        </p:nvCxnSpPr>
        <p:spPr>
          <a:xfrm>
            <a:off x="6908800" y="3276600"/>
            <a:ext cx="0" cy="76200"/>
          </a:xfrm>
          <a:prstGeom prst="line">
            <a:avLst/>
          </a:prstGeom>
          <a:ln w="19050">
            <a:solidFill>
              <a:srgbClr val="4472C4"/>
            </a:solidFill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Eddy size label"/>
              <p:cNvSpPr/>
              <p:nvPr/>
            </p:nvSpPr>
            <p:spPr>
              <a:xfrm>
                <a:off x="2628900" y="3378200"/>
                <a:ext cx="4279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4472C4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solidFill>
                                <a:srgbClr val="4472C4"/>
                              </a:solidFill>
                              <a:latin typeface="Cambria Math"/>
                            </a:rPr>
                            <m:t>𝑤</m:t>
                          </m:r>
                        </m:sub>
                      </m:sSub>
                      <m:r>
                        <a:rPr lang="en-US" sz="1600" i="0">
                          <a:solidFill>
                            <a:srgbClr val="4472C4"/>
                          </a:solidFill>
                          <a:latin typeface="Cambria Math"/>
                        </a:rPr>
                        <m:t>=0.57 </m:t>
                      </m:r>
                      <m:bar>
                        <m:barPr>
                          <m:pos m:val="top"/>
                          <m:ctrlPr>
                            <a:rPr lang="en-US" sz="1600" i="1">
                              <a:solidFill>
                                <a:srgbClr val="4472C4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1600" i="1">
                              <a:solidFill>
                                <a:srgbClr val="4472C4"/>
                              </a:solidFill>
                              <a:latin typeface="Cambria Math"/>
                            </a:rPr>
                            <m:t>𝛥</m:t>
                          </m:r>
                        </m:e>
                      </m:ba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2" name="Eddy size labe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3378200"/>
                <a:ext cx="4279900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" name="After label"/>
          <p:cNvSpPr/>
          <p:nvPr/>
        </p:nvSpPr>
        <p:spPr>
          <a:xfrm>
            <a:off x="800100" y="33528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042354"/>
                </a:solidFill>
                <a:latin typeface="Arial"/>
                <a:cs typeface="Arial"/>
              </a:rPr>
              <a:t>After stirring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AFADFA1-7C73-8E0E-0F7F-8ACAF43D54DC}"/>
              </a:ext>
            </a:extLst>
          </p:cNvPr>
          <p:cNvSpPr txBox="1"/>
          <p:nvPr/>
        </p:nvSpPr>
        <p:spPr>
          <a:xfrm>
            <a:off x="1270000" y="3721099"/>
            <a:ext cx="67881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 err="1"/>
              <a:t>Stirring</a:t>
            </a:r>
            <a:r>
              <a:rPr lang="de-DE" sz="1050" b="1" dirty="0"/>
              <a:t> </a:t>
            </a:r>
            <a:r>
              <a:rPr lang="de-DE" sz="1050" b="1" dirty="0" err="1"/>
              <a:t>effect</a:t>
            </a:r>
            <a:r>
              <a:rPr lang="de-DE" sz="1050" b="1" dirty="0"/>
              <a:t> on a </a:t>
            </a:r>
            <a:r>
              <a:rPr lang="de-DE" sz="1050" b="1" dirty="0" err="1"/>
              <a:t>particle</a:t>
            </a:r>
            <a:r>
              <a:rPr lang="de-DE" sz="1050" b="1" dirty="0"/>
              <a:t> </a:t>
            </a:r>
            <a:r>
              <a:rPr lang="de-DE" sz="1050" b="1" dirty="0" err="1"/>
              <a:t>ensemble</a:t>
            </a:r>
            <a:r>
              <a:rPr lang="de-DE" sz="1050" b="1" dirty="0"/>
              <a:t>. </a:t>
            </a:r>
            <a:r>
              <a:rPr lang="de-DE" sz="1050" b="1" dirty="0" err="1"/>
              <a:t>Stirring</a:t>
            </a:r>
            <a:r>
              <a:rPr lang="de-DE" sz="1050" b="1" dirty="0"/>
              <a:t> </a:t>
            </a:r>
            <a:r>
              <a:rPr lang="de-DE" sz="1050" b="1" dirty="0" err="1"/>
              <a:t>is</a:t>
            </a:r>
            <a:r>
              <a:rPr lang="de-DE" sz="1050" b="1" dirty="0"/>
              <a:t> a </a:t>
            </a:r>
            <a:r>
              <a:rPr lang="de-DE" sz="1050" b="1" dirty="0" err="1"/>
              <a:t>permutation</a:t>
            </a:r>
            <a:r>
              <a:rPr lang="de-DE" sz="1050" b="1" dirty="0"/>
              <a:t> of </a:t>
            </a:r>
            <a:r>
              <a:rPr lang="de-DE" sz="1050" b="1" dirty="0" err="1"/>
              <a:t>particles</a:t>
            </a:r>
            <a:r>
              <a:rPr lang="de-DE" sz="1050" b="1" dirty="0"/>
              <a:t> </a:t>
            </a:r>
            <a:r>
              <a:rPr lang="de-DE" sz="1050" b="1" dirty="0" err="1"/>
              <a:t>enhancing</a:t>
            </a:r>
            <a:r>
              <a:rPr lang="de-DE" sz="1050" b="1" dirty="0"/>
              <a:t> </a:t>
            </a:r>
            <a:r>
              <a:rPr lang="de-DE" sz="1050" b="1" dirty="0" err="1"/>
              <a:t>scalar</a:t>
            </a:r>
            <a:r>
              <a:rPr lang="de-DE" sz="1050" b="1" dirty="0"/>
              <a:t> </a:t>
            </a:r>
            <a:r>
              <a:rPr lang="de-DE" sz="1050" b="1" dirty="0" err="1"/>
              <a:t>gradients</a:t>
            </a:r>
            <a:r>
              <a:rPr lang="de-DE" sz="1050" b="1" dirty="0"/>
              <a:t>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4EC6E5-E0BD-535C-2FA1-11B495A905C4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7450A14-B321-7991-7355-E6172D1AC25B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46FBE04-8704-1867-33F1-9AE971CF891A}"/>
                </a:ext>
              </a:extLst>
            </p:cNvPr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B4816FE-566B-4EE7-C0AA-718EB6EA76F7}"/>
                </a:ext>
              </a:extLst>
            </p:cNvPr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D3984A8-3CBC-07E2-EDD1-1EFE7A503070}"/>
                </a:ext>
              </a:extLst>
            </p:cNvPr>
            <p:cNvPicPr/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B1ACAEF3-310F-DEA4-6AEA-DC396D5A4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2EDD6E9D-497C-FA18-76CE-7B9855C15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076D8E99-56EF-96FA-5A94-AE96D816D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236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CAFC-6924-414C-95FC-7294A717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BDF422D3-3824-9E72-EDE7-AAE940E1159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Particle advection - Splicing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3D559D10-C397-CEA5-7486-4888D7E9A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7" y="1993672"/>
            <a:ext cx="4034971" cy="5181600"/>
          </a:xfrm>
        </p:spPr>
        <p:txBody>
          <a:bodyPr lIns="100796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Three-dimensional mechanism represented by a one-dimensional domain.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scalar is conserved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particle method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 is orthogonal to the mean flow direction.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Notable effect of the number of particles.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470911C-3125-79A6-3C69-8F9EE09BF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245" y="3720472"/>
            <a:ext cx="4680000" cy="1728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2763CBE-4995-21D6-3A4C-DA1B5EA0F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851" y="1037308"/>
            <a:ext cx="4680000" cy="22123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7D46D0D-01C7-A68F-578E-0A0998BB2059}"/>
              </a:ext>
            </a:extLst>
          </p:cNvPr>
          <p:cNvSpPr txBox="1"/>
          <p:nvPr/>
        </p:nvSpPr>
        <p:spPr>
          <a:xfrm>
            <a:off x="5177528" y="3185639"/>
            <a:ext cx="339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 err="1"/>
              <a:t>Advection</a:t>
            </a:r>
            <a:r>
              <a:rPr lang="de-DE" sz="1050" b="1" dirty="0"/>
              <a:t> of a </a:t>
            </a:r>
            <a:r>
              <a:rPr lang="de-DE" sz="1050" b="1" dirty="0" err="1"/>
              <a:t>square-shaped</a:t>
            </a:r>
            <a:r>
              <a:rPr lang="de-DE" sz="1050" b="1" dirty="0"/>
              <a:t> </a:t>
            </a:r>
            <a:r>
              <a:rPr lang="de-DE" sz="1050" b="1" dirty="0" err="1"/>
              <a:t>scalar</a:t>
            </a:r>
            <a:r>
              <a:rPr lang="de-DE" sz="1050" b="1" dirty="0"/>
              <a:t> </a:t>
            </a:r>
            <a:r>
              <a:rPr lang="de-DE" sz="1050" b="1" dirty="0" err="1"/>
              <a:t>field</a:t>
            </a:r>
            <a:endParaRPr lang="de-DE" sz="105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6BE3C77-7327-C590-8124-3A4460F563E8}"/>
              </a:ext>
            </a:extLst>
          </p:cNvPr>
          <p:cNvSpPr txBox="1"/>
          <p:nvPr/>
        </p:nvSpPr>
        <p:spPr>
          <a:xfrm>
            <a:off x="5177528" y="5448472"/>
            <a:ext cx="33926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/>
              <a:t>Scalar </a:t>
            </a:r>
            <a:r>
              <a:rPr lang="de-DE" sz="1050" b="1" dirty="0" err="1"/>
              <a:t>field</a:t>
            </a:r>
            <a:r>
              <a:rPr lang="de-DE" sz="1050" b="1" dirty="0"/>
              <a:t> </a:t>
            </a:r>
            <a:r>
              <a:rPr lang="de-DE" sz="1050" b="1" dirty="0" err="1"/>
              <a:t>along</a:t>
            </a:r>
            <a:r>
              <a:rPr lang="de-DE" sz="1050" b="1" dirty="0"/>
              <a:t> the </a:t>
            </a:r>
            <a:r>
              <a:rPr lang="de-DE" sz="1050" b="1" dirty="0" err="1"/>
              <a:t>main</a:t>
            </a:r>
            <a:r>
              <a:rPr lang="de-DE" sz="1050" b="1" dirty="0"/>
              <a:t> </a:t>
            </a:r>
            <a:r>
              <a:rPr lang="de-DE" sz="1050" b="1" dirty="0" err="1"/>
              <a:t>flow</a:t>
            </a:r>
            <a:r>
              <a:rPr lang="de-DE" sz="1050" b="1" dirty="0"/>
              <a:t> </a:t>
            </a:r>
            <a:r>
              <a:rPr lang="de-DE" sz="1050" b="1" dirty="0" err="1"/>
              <a:t>direction (left)</a:t>
            </a:r>
            <a:r>
              <a:rPr lang="de-DE" sz="1050" b="1" dirty="0"/>
              <a:t> and orthogonal </a:t>
            </a:r>
            <a:r>
              <a:rPr lang="de-DE" sz="1050" b="1" dirty="0" err="1"/>
              <a:t>direction (right)</a:t>
            </a:r>
            <a:r>
              <a:rPr lang="de-DE" sz="1050" b="1" dirty="0"/>
              <a:t> for different </a:t>
            </a:r>
            <a:r>
              <a:rPr lang="de-DE" sz="1050" b="1" dirty="0" err="1"/>
              <a:t>numbers</a:t>
            </a:r>
            <a:r>
              <a:rPr lang="de-DE" sz="1050" b="1" dirty="0"/>
              <a:t> of </a:t>
            </a:r>
            <a:r>
              <a:rPr lang="de-DE" sz="1050" b="1" dirty="0" err="1"/>
              <a:t>particles</a:t>
            </a:r>
            <a:r>
              <a:rPr lang="de-DE" sz="1050" b="1" dirty="0"/>
              <a:t>.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1547C52-4BA8-7E83-AF17-7A8FC05A8101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6" name="Rectángulo 6">
              <a:extLst>
                <a:ext uri="{FF2B5EF4-FFF2-40B4-BE49-F238E27FC236}">
                  <a16:creationId xmlns:a16="http://schemas.microsoft.com/office/drawing/2014/main" id="{960C2FF6-C34A-6D6A-F841-6E6FC900FD3F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F7BAD3EA-8D88-0151-D0A8-E6035FE1A226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9ACBEB2-97A8-38F3-E3EA-B50B07DC84B2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D7BA0A1-DED3-1749-08FD-5CAB746E0C89}"/>
                </a:ext>
              </a:extLst>
            </p:cNvPr>
            <p:cNvPicPr/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BDFEB3F3-4E05-E766-887C-44E94E07F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1250D32-D378-83F5-4454-D91726D6A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0BB96BA-1956-09D7-4427-27A28D1F0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05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2106BBED-6DF7-4BA7-83EC-89B976B0DA0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Premixed flame - PMF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4E249632-E841-467E-BD9A-AB4B79AF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9" y="914400"/>
            <a:ext cx="4318000" cy="4597879"/>
          </a:xfrm>
        </p:spPr>
        <p:txBody>
          <a:bodyPr lIns="100796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 premixed flame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φ = 0.4, 300 K, 1 atm: 128 cells × 12 particles against a 512-cell reference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energy-consistent coupling strategy is validated.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small shift in the mass species curve is due to the splicing operator.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heat release is accounted for in the particle internal energy.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6EA3B41-3A3C-1443-6D06-4EF790E6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000" y="3366057"/>
            <a:ext cx="2160000" cy="163005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632E807-17ED-C05E-6AF6-80AC4D621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47367"/>
            <a:ext cx="2160000" cy="16487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3FAF6B97-BB6A-3C9B-4500-9E504715A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64474"/>
            <a:ext cx="4320000" cy="1763100"/>
          </a:xfrm>
          <a:prstGeom prst="rect">
            <a:avLst/>
          </a:prstGeom>
        </p:spPr>
      </p:pic>
      <p:sp>
        <p:nvSpPr>
          <p:cNvPr id="30" name="Coupling equation"/>
          <p:cNvSpPr txBox="1"/>
          <p:nvPr/>
        </p:nvSpPr>
        <p:spPr>
          <a:xfrm>
            <a:off x="320615" y="3527530"/>
            <a:ext cx="4318000" cy="14619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44546A"/>
                </a:solidFill>
              </a:rPr>
              <a:t>CLEM coupling update (mass-weighted)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latin typeface="Cambria Math"/>
                <a:cs typeface="Cambria Math"/>
              </a:rPr>
              <a:t>φ̃</a:t>
            </a:r>
            <a:r>
              <a:rPr lang="en-US" sz="1600" baseline="30000" dirty="0">
                <a:latin typeface="Cambria Math"/>
                <a:cs typeface="Cambria Math"/>
              </a:rPr>
              <a:t>n+1</a:t>
            </a:r>
            <a:r>
              <a:rPr lang="en-US" sz="1600" dirty="0">
                <a:latin typeface="Cambria Math"/>
                <a:cs typeface="Cambria Math"/>
              </a:rPr>
              <a:t> = φ̃</a:t>
            </a:r>
            <a:r>
              <a:rPr lang="en-US" sz="1600" baseline="30000" dirty="0">
                <a:latin typeface="Cambria Math"/>
                <a:cs typeface="Cambria Math"/>
              </a:rPr>
              <a:t>*</a:t>
            </a:r>
            <a:r>
              <a:rPr lang="en-US" sz="1600" dirty="0">
                <a:latin typeface="Cambria Math"/>
                <a:cs typeface="Cambria Math"/>
              </a:rPr>
              <a:t> + Δφ</a:t>
            </a:r>
            <a:r>
              <a:rPr lang="en-US" sz="1600" baseline="-25000" dirty="0">
                <a:latin typeface="Cambria Math"/>
                <a:cs typeface="Cambria Math"/>
              </a:rPr>
              <a:t>CLEM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latin typeface="Cambria Math"/>
                <a:cs typeface="Cambria Math"/>
              </a:rPr>
              <a:t>Δφ</a:t>
            </a:r>
            <a:r>
              <a:rPr lang="en-US" sz="1600" baseline="-25000" dirty="0">
                <a:latin typeface="Cambria Math"/>
                <a:cs typeface="Cambria Math"/>
              </a:rPr>
              <a:t>CLEM</a:t>
            </a:r>
            <a:r>
              <a:rPr lang="en-US" sz="1600" dirty="0">
                <a:latin typeface="Cambria Math"/>
                <a:cs typeface="Cambria Math"/>
              </a:rPr>
              <a:t> = Σ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  <a:r>
              <a:rPr lang="en-US" sz="1600" dirty="0">
                <a:latin typeface="Cambria Math"/>
                <a:cs typeface="Cambria Math"/>
              </a:rPr>
              <a:t> m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  <a:r>
              <a:rPr lang="en-US" sz="1600" dirty="0">
                <a:latin typeface="Cambria Math"/>
                <a:cs typeface="Cambria Math"/>
              </a:rPr>
              <a:t> (φ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  <a:r>
              <a:rPr lang="en-US" sz="1600" baseline="30000" dirty="0">
                <a:latin typeface="Cambria Math"/>
                <a:cs typeface="Cambria Math"/>
              </a:rPr>
              <a:t>n+1</a:t>
            </a:r>
            <a:r>
              <a:rPr lang="en-US" sz="1600" dirty="0">
                <a:latin typeface="Cambria Math"/>
                <a:cs typeface="Cambria Math"/>
              </a:rPr>
              <a:t> − φ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  <a:r>
              <a:rPr lang="en-US" sz="1600" baseline="30000" dirty="0">
                <a:latin typeface="Cambria Math"/>
                <a:cs typeface="Cambria Math"/>
              </a:rPr>
              <a:t>n</a:t>
            </a:r>
            <a:r>
              <a:rPr lang="en-US" sz="1600" dirty="0">
                <a:latin typeface="Cambria Math"/>
                <a:cs typeface="Cambria Math"/>
              </a:rPr>
              <a:t>) / Σ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  <a:r>
              <a:rPr lang="en-US" sz="1600" dirty="0">
                <a:latin typeface="Cambria Math"/>
                <a:cs typeface="Cambria Math"/>
              </a:rPr>
              <a:t> m</a:t>
            </a:r>
            <a:r>
              <a:rPr lang="en-US" sz="1600" baseline="-25000" dirty="0">
                <a:latin typeface="Cambria Math"/>
                <a:cs typeface="Cambria Math"/>
              </a:rPr>
              <a:t>p</a:t>
            </a:r>
          </a:p>
          <a:p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φ̃</a:t>
            </a:r>
            <a:r>
              <a:rPr lang="en-US" sz="1400" baseline="30000" dirty="0">
                <a:solidFill>
                  <a:srgbClr val="44546A"/>
                </a:solidFill>
                <a:latin typeface="Cambria Math"/>
                <a:cs typeface="Cambria Math"/>
              </a:rPr>
              <a:t>*</a:t>
            </a:r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 = φ̃</a:t>
            </a:r>
            <a:r>
              <a:rPr lang="en-US" sz="1400" baseline="30000" dirty="0">
                <a:solidFill>
                  <a:srgbClr val="44546A"/>
                </a:solidFill>
                <a:latin typeface="Cambria Math"/>
                <a:cs typeface="Cambria Math"/>
              </a:rPr>
              <a:t>n</a:t>
            </a:r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 for Y</a:t>
            </a:r>
            <a:r>
              <a:rPr lang="en-US" sz="1400" baseline="-25000" dirty="0">
                <a:solidFill>
                  <a:srgbClr val="44546A"/>
                </a:solidFill>
                <a:latin typeface="Cambria Math"/>
                <a:cs typeface="Cambria Math"/>
              </a:rPr>
              <a:t>k</a:t>
            </a:r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 (not solved by NS)</a:t>
            </a:r>
          </a:p>
          <a:p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φ̃</a:t>
            </a:r>
            <a:r>
              <a:rPr lang="en-US" sz="1400" baseline="30000" dirty="0">
                <a:solidFill>
                  <a:srgbClr val="44546A"/>
                </a:solidFill>
                <a:latin typeface="Cambria Math"/>
                <a:cs typeface="Cambria Math"/>
              </a:rPr>
              <a:t>*</a:t>
            </a:r>
            <a:r>
              <a:rPr lang="en-US" sz="1400" dirty="0">
                <a:solidFill>
                  <a:srgbClr val="44546A"/>
                </a:solidFill>
                <a:latin typeface="Cambria Math"/>
                <a:cs typeface="Cambria Math"/>
              </a:rPr>
              <a:t> = NS solution for energy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1267512-F9F7-F372-1138-CD15C8E56E01}"/>
              </a:ext>
            </a:extLst>
          </p:cNvPr>
          <p:cNvSpPr txBox="1"/>
          <p:nvPr/>
        </p:nvSpPr>
        <p:spPr>
          <a:xfrm>
            <a:off x="5222795" y="2531406"/>
            <a:ext cx="339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 err="1"/>
              <a:t>Schematic</a:t>
            </a:r>
            <a:r>
              <a:rPr lang="de-DE" sz="1050" b="1" dirty="0"/>
              <a:t> of the </a:t>
            </a:r>
            <a:r>
              <a:rPr lang="de-DE" sz="1050" b="1" dirty="0" err="1"/>
              <a:t>flow</a:t>
            </a:r>
            <a:r>
              <a:rPr lang="de-DE" sz="1050" b="1" dirty="0"/>
              <a:t> </a:t>
            </a:r>
            <a:r>
              <a:rPr lang="de-DE" sz="1050" b="1" dirty="0" err="1"/>
              <a:t>configuration</a:t>
            </a:r>
            <a:endParaRPr lang="de-DE" sz="105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09114EF-8B7B-DD5D-30CB-E16282698697}"/>
              </a:ext>
            </a:extLst>
          </p:cNvPr>
          <p:cNvSpPr txBox="1"/>
          <p:nvPr/>
        </p:nvSpPr>
        <p:spPr>
          <a:xfrm>
            <a:off x="5209855" y="4959645"/>
            <a:ext cx="339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/>
              <a:t>OH </a:t>
            </a:r>
            <a:r>
              <a:rPr lang="de-DE" sz="1050" b="1" dirty="0" err="1"/>
              <a:t>mass</a:t>
            </a:r>
            <a:r>
              <a:rPr lang="de-DE" sz="1050" b="1" dirty="0"/>
              <a:t> </a:t>
            </a:r>
            <a:r>
              <a:rPr lang="de-DE" sz="1050" b="1" dirty="0" err="1"/>
              <a:t>species</a:t>
            </a:r>
            <a:r>
              <a:rPr lang="de-DE" sz="1050" b="1" dirty="0"/>
              <a:t> (</a:t>
            </a:r>
            <a:r>
              <a:rPr lang="de-DE" sz="1050" b="1" dirty="0" err="1"/>
              <a:t>left</a:t>
            </a:r>
            <a:r>
              <a:rPr lang="de-DE" sz="1050" b="1" dirty="0"/>
              <a:t>) and </a:t>
            </a:r>
            <a:r>
              <a:rPr lang="de-DE" sz="1050" b="1" dirty="0" err="1"/>
              <a:t>temperature</a:t>
            </a:r>
            <a:r>
              <a:rPr lang="de-DE" sz="1050" b="1" dirty="0"/>
              <a:t> (</a:t>
            </a:r>
            <a:r>
              <a:rPr lang="de-DE" sz="1050" b="1" dirty="0" err="1"/>
              <a:t>right</a:t>
            </a:r>
            <a:r>
              <a:rPr lang="de-DE" sz="1050" b="1" dirty="0"/>
              <a:t>) </a:t>
            </a:r>
            <a:r>
              <a:rPr lang="de-DE" sz="1050" b="1" dirty="0" err="1"/>
              <a:t>profiles</a:t>
            </a:r>
            <a:endParaRPr lang="de-DE" sz="1050" b="1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86A11EE-85DA-4556-5B38-741E72B57FDC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11" name="Rectángulo 6">
              <a:extLst>
                <a:ext uri="{FF2B5EF4-FFF2-40B4-BE49-F238E27FC236}">
                  <a16:creationId xmlns:a16="http://schemas.microsoft.com/office/drawing/2014/main" id="{15F7E91F-FF13-38B8-B21C-E123E82B80F7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18" name="Imagen 7">
              <a:extLst>
                <a:ext uri="{FF2B5EF4-FFF2-40B4-BE49-F238E27FC236}">
                  <a16:creationId xmlns:a16="http://schemas.microsoft.com/office/drawing/2014/main" id="{52CDB955-DA6A-4759-3FCA-A7DE0483C1CA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Imagen 8">
              <a:extLst>
                <a:ext uri="{FF2B5EF4-FFF2-40B4-BE49-F238E27FC236}">
                  <a16:creationId xmlns:a16="http://schemas.microsoft.com/office/drawing/2014/main" id="{1A21E839-A8E0-CB50-3610-0526677EAB98}"/>
                </a:ext>
              </a:extLst>
            </p:cNvPr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20" name="Imagen 9">
              <a:extLst>
                <a:ext uri="{FF2B5EF4-FFF2-40B4-BE49-F238E27FC236}">
                  <a16:creationId xmlns:a16="http://schemas.microsoft.com/office/drawing/2014/main" id="{0A65E676-5F8E-C382-78BB-D228AFE12729}"/>
                </a:ext>
              </a:extLst>
            </p:cNvPr>
            <p:cNvPicPr/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6ED4D0C3-18BB-E986-55E1-C545EAAA3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968D8A59-8C8B-1C13-D9D6-5FD03A293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6446310D-28A4-2495-748B-E10B78B1F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791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2106BBED-6DF7-4BA7-83EC-89B976B0DA0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Non-reacting Cross-jet flow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4E249632-E841-467E-BD9A-AB4B79AF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21" y="1517217"/>
            <a:ext cx="3280194" cy="5181600"/>
          </a:xfrm>
        </p:spPr>
        <p:txBody>
          <a:bodyPr lIns="100796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Sonic H</a:t>
            </a:r>
            <a:r>
              <a:rPr lang="en-US" sz="1600" baseline="-25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jet (D</a:t>
            </a:r>
            <a:r>
              <a:rPr lang="en-US" sz="1600" baseline="-25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 mm) into a </a:t>
            </a: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 1.5 air crossflow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1000 K, 1 atm (Case 1, Jin et al.)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 × 48 × 16 cells, 0.3125 mm, no AMR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Hairpin vortices persist to </a:t>
            </a: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= 10 cm with WALE-WM</a:t>
            </a:r>
            <a:r>
              <a:rPr lang="en-US" sz="16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only to </a:t>
            </a: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= 8 cm with </a:t>
            </a:r>
            <a:r>
              <a:rPr lang="en-US" sz="1600" b="1" dirty="0" err="1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Smagorinsky</a:t>
            </a:r>
            <a:r>
              <a:rPr lang="en-US" sz="16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endParaRPr lang="en-US" sz="1600" b="1" dirty="0">
              <a:solidFill>
                <a:srgbClr val="042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4608BB-8AD3-5818-26FC-0B3D5F0DD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7" t="22770" r="12064" b="20413"/>
          <a:stretch>
            <a:fillRect/>
          </a:stretch>
        </p:blipFill>
        <p:spPr>
          <a:xfrm>
            <a:off x="3343661" y="1049517"/>
            <a:ext cx="5720509" cy="20789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3717B31-7517-6BC6-B967-B5BDE6E56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66" t="25128" r="12264" b="20648"/>
          <a:stretch>
            <a:fillRect/>
          </a:stretch>
        </p:blipFill>
        <p:spPr>
          <a:xfrm>
            <a:off x="3395724" y="3272090"/>
            <a:ext cx="5684808" cy="19840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36A03D2-FC59-31D8-046C-7DE71405D87D}"/>
              </a:ext>
            </a:extLst>
          </p:cNvPr>
          <p:cNvSpPr txBox="1"/>
          <p:nvPr/>
        </p:nvSpPr>
        <p:spPr>
          <a:xfrm>
            <a:off x="4217860" y="5272815"/>
            <a:ext cx="33926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/>
              <a:t>Q-</a:t>
            </a:r>
            <a:r>
              <a:rPr lang="de-DE" sz="1050" b="1" dirty="0" err="1"/>
              <a:t>criterion</a:t>
            </a:r>
            <a:r>
              <a:rPr lang="de-DE" sz="1050" b="1" dirty="0"/>
              <a:t> </a:t>
            </a:r>
            <a:r>
              <a:rPr lang="de-DE" sz="1050" b="1" dirty="0" err="1"/>
              <a:t>using</a:t>
            </a:r>
            <a:r>
              <a:rPr lang="de-DE" sz="1050" b="1" dirty="0"/>
              <a:t> WALE (top) and </a:t>
            </a:r>
            <a:r>
              <a:rPr lang="de-DE" sz="1050" b="1" dirty="0" err="1"/>
              <a:t>classical</a:t>
            </a:r>
            <a:r>
              <a:rPr lang="de-DE" sz="1050" b="1" dirty="0"/>
              <a:t> </a:t>
            </a:r>
            <a:r>
              <a:rPr lang="de-DE" sz="1050" b="1" dirty="0" err="1"/>
              <a:t>Smagorinsky</a:t>
            </a:r>
            <a:r>
              <a:rPr lang="de-DE" sz="1050" b="1" dirty="0"/>
              <a:t> (</a:t>
            </a:r>
            <a:r>
              <a:rPr lang="de-DE" sz="1050" b="1" dirty="0" err="1"/>
              <a:t>bottom</a:t>
            </a:r>
            <a:r>
              <a:rPr lang="de-DE" sz="1050" b="1" dirty="0"/>
              <a:t>) </a:t>
            </a:r>
            <a:r>
              <a:rPr lang="de-DE" sz="1050" b="1" dirty="0" err="1"/>
              <a:t>model</a:t>
            </a:r>
            <a:endParaRPr lang="de-DE" sz="1050" b="1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4CD286F-339D-3B80-6348-43FD7BB78427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6" name="Rectángulo 6">
              <a:extLst>
                <a:ext uri="{FF2B5EF4-FFF2-40B4-BE49-F238E27FC236}">
                  <a16:creationId xmlns:a16="http://schemas.microsoft.com/office/drawing/2014/main" id="{7C4EB277-FB30-4553-3093-87FCA2A22224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7" name="Imagen 7">
              <a:extLst>
                <a:ext uri="{FF2B5EF4-FFF2-40B4-BE49-F238E27FC236}">
                  <a16:creationId xmlns:a16="http://schemas.microsoft.com/office/drawing/2014/main" id="{A8BD011F-BEF3-BC67-0A93-9E59F251AA03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Imagen 8">
              <a:extLst>
                <a:ext uri="{FF2B5EF4-FFF2-40B4-BE49-F238E27FC236}">
                  <a16:creationId xmlns:a16="http://schemas.microsoft.com/office/drawing/2014/main" id="{7F2AD5F1-D827-00AF-2B98-7FF640F0B1D0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66E3BA8-33E4-A3B1-BD6F-79C78EAEE361}"/>
                </a:ext>
              </a:extLst>
            </p:cNvPr>
            <p:cNvPicPr/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817A2E1D-2A0E-A3A1-A1BA-A8C28E203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1B4CC2B0-3606-69AB-407F-98A781EC8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D918C0FE-32EA-4AAA-F1F1-D58907BEC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184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2106BBED-6DF7-4BA7-83EC-89B976B0DA0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 of turbulence closure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2 Marcador de contenido">
                <a:extLst>
                  <a:ext uri="{FF2B5EF4-FFF2-40B4-BE49-F238E27FC236}">
                    <a16:creationId xmlns:a16="http://schemas.microsoft.com/office/drawing/2014/main" id="{4E249632-E841-467E-BD9A-AB4B79AFA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999" y="2115781"/>
                <a:ext cx="4318000" cy="3321170"/>
              </a:xfrm>
            </p:spPr>
            <p:txBody>
              <a:bodyPr lIns="100796">
                <a:normAutofit/>
              </a:bodyPr>
              <a:lstStyle/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Stirring rate set by the LES eddy viscosity: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solidFill>
                          <a:srgbClr val="042354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1600" dirty="0">
                        <a:solidFill>
                          <a:srgbClr val="042354"/>
                        </a:solidFill>
                        <a:latin typeface="Cambria Math" panose="02040503050406030204" pitchFamily="18" charset="0"/>
                      </a:rPr>
                      <m:t> ∝ 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1600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17/12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600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5/6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p>
                        <m:r>
                          <a:rPr lang="en-US" sz="1600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−5/4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600" dirty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dirty="0">
                                <a:solidFill>
                                  <a:srgbClr val="042354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acc>
                      </m:e>
                      <m:sup>
                        <m:r>
                          <a:rPr lang="en-US" sz="1600" dirty="0">
                            <a:solidFill>
                              <a:srgbClr val="042354"/>
                            </a:solidFill>
                            <a:latin typeface="Cambria Math" panose="02040503050406030204" pitchFamily="18" charset="0"/>
                          </a:rPr>
                          <m:t>−4/3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0423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Stirring events: </a:t>
                </a: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≈ 900 with WALE-WM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vs </a:t>
                </a: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≈ 6 × 10</a:t>
                </a:r>
                <a:r>
                  <a:rPr lang="en-US" sz="1600" b="1" baseline="300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1600" b="1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Smagorinsky</a:t>
                </a:r>
              </a:p>
              <a:p>
                <a:pPr marL="285750" indent="-285750">
                  <a:spcBef>
                    <a:spcPts val="900"/>
                  </a:spcBef>
                  <a:buFont typeface="Arial"/>
                  <a:buChar char="•"/>
                </a:pPr>
                <a:r>
                  <a:rPr lang="en-US" sz="1600" dirty="0" err="1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Subgrid</a:t>
                </a:r>
                <a:r>
                  <a:rPr lang="en-US" sz="1600" dirty="0">
                    <a:solidFill>
                      <a:srgbClr val="04235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mixing inherits the turbulence-closure error.</a:t>
                </a:r>
              </a:p>
            </p:txBody>
          </p:sp>
        </mc:Choice>
        <mc:Fallback xmlns="">
          <p:sp>
            <p:nvSpPr>
              <p:cNvPr id="5" name="2 Marcador de contenido">
                <a:extLst>
                  <a:ext uri="{FF2B5EF4-FFF2-40B4-BE49-F238E27FC236}">
                    <a16:creationId xmlns:a16="http://schemas.microsoft.com/office/drawing/2014/main" id="{4E249632-E841-467E-BD9A-AB4B79AFA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999" y="2115781"/>
                <a:ext cx="4318000" cy="3321170"/>
              </a:xfrm>
              <a:blipFill>
                <a:blip r:embed="rId3"/>
                <a:stretch>
                  <a:fillRect l="-424" t="-1284" r="-14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0833D664-EA13-4C2E-2327-5B53A7A1B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851" y="1875012"/>
            <a:ext cx="3600000" cy="226285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6EEA806-863D-8099-4472-B54655C73C56}"/>
              </a:ext>
            </a:extLst>
          </p:cNvPr>
          <p:cNvSpPr txBox="1"/>
          <p:nvPr/>
        </p:nvSpPr>
        <p:spPr>
          <a:xfrm>
            <a:off x="5122219" y="4195617"/>
            <a:ext cx="33926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/>
              <a:t>Number of </a:t>
            </a:r>
            <a:r>
              <a:rPr lang="de-DE" sz="1050" b="1" dirty="0" err="1"/>
              <a:t>stirring</a:t>
            </a:r>
            <a:r>
              <a:rPr lang="de-DE" sz="1050" b="1" dirty="0"/>
              <a:t> </a:t>
            </a:r>
            <a:r>
              <a:rPr lang="de-DE" sz="1050" b="1" dirty="0" err="1"/>
              <a:t>events</a:t>
            </a:r>
            <a:r>
              <a:rPr lang="de-DE" sz="1050" b="1" dirty="0"/>
              <a:t> per time step </a:t>
            </a:r>
            <a:r>
              <a:rPr lang="de-DE" sz="1050" b="1" dirty="0" err="1"/>
              <a:t>using</a:t>
            </a:r>
            <a:r>
              <a:rPr lang="de-DE" sz="1050" b="1" dirty="0"/>
              <a:t> different </a:t>
            </a:r>
            <a:r>
              <a:rPr lang="de-DE" sz="1050" b="1" dirty="0" err="1"/>
              <a:t>turbulence</a:t>
            </a:r>
            <a:r>
              <a:rPr lang="de-DE" sz="1050" b="1" dirty="0"/>
              <a:t> </a:t>
            </a:r>
            <a:r>
              <a:rPr lang="de-DE" sz="1050" b="1" dirty="0" err="1"/>
              <a:t>closure</a:t>
            </a:r>
            <a:endParaRPr lang="de-DE" sz="1050" b="1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DC56F34-242E-9ED5-CEB9-2EA019B296E1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8" name="Rectángulo 6">
              <a:extLst>
                <a:ext uri="{FF2B5EF4-FFF2-40B4-BE49-F238E27FC236}">
                  <a16:creationId xmlns:a16="http://schemas.microsoft.com/office/drawing/2014/main" id="{C04A96F9-47CB-9891-F8F8-898759EAFC40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9" name="Imagen 7">
              <a:extLst>
                <a:ext uri="{FF2B5EF4-FFF2-40B4-BE49-F238E27FC236}">
                  <a16:creationId xmlns:a16="http://schemas.microsoft.com/office/drawing/2014/main" id="{886A5C8A-ED3B-FDD9-DC06-61890A6BC4A6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Imagen 8">
              <a:extLst>
                <a:ext uri="{FF2B5EF4-FFF2-40B4-BE49-F238E27FC236}">
                  <a16:creationId xmlns:a16="http://schemas.microsoft.com/office/drawing/2014/main" id="{3CFE6CEB-1533-F0B2-A1DF-AE972FDA09AA}"/>
                </a:ext>
              </a:extLst>
            </p:cNvPr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11" name="Imagen 9">
              <a:extLst>
                <a:ext uri="{FF2B5EF4-FFF2-40B4-BE49-F238E27FC236}">
                  <a16:creationId xmlns:a16="http://schemas.microsoft.com/office/drawing/2014/main" id="{C8E513E0-4D6D-0C2B-EA0A-85F541BDF0A3}"/>
                </a:ext>
              </a:extLst>
            </p:cNvPr>
            <p:cNvPicPr/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C6B86594-5321-AC33-A3F7-52895260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2476D302-5EE7-14B7-0F01-7061316C3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869ED42D-B066-86AF-764B-8A64BB937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73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2106BBED-6DF7-4BA7-83EC-89B976B0DA0C}"/>
              </a:ext>
            </a:extLst>
          </p:cNvPr>
          <p:cNvSpPr txBox="1">
            <a:spLocks/>
          </p:cNvSpPr>
          <p:nvPr/>
        </p:nvSpPr>
        <p:spPr>
          <a:xfrm>
            <a:off x="79829" y="101600"/>
            <a:ext cx="8984341" cy="711200"/>
          </a:xfrm>
          <a:prstGeom prst="rect">
            <a:avLst/>
          </a:prstGeom>
          <a:ln>
            <a:noFill/>
          </a:ln>
        </p:spPr>
        <p:txBody>
          <a:bodyPr vert="horz" lIns="100796" tIns="50398" rIns="100796" bIns="50398" rtlCol="0" anchor="ctr">
            <a:normAutofit/>
          </a:bodyPr>
          <a:lstStyle/>
          <a:p>
            <a:pPr defTabSz="1007943">
              <a:spcBef>
                <a:spcPct val="0"/>
              </a:spcBef>
            </a:pPr>
            <a:r>
              <a:rPr lang="en-US" sz="20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4E249632-E841-467E-BD9A-AB4B79AF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29" y="914400"/>
            <a:ext cx="8763000" cy="5181600"/>
          </a:xfrm>
        </p:spPr>
        <p:txBody>
          <a:bodyPr lIns="100796">
            <a:normAutofit/>
          </a:bodyPr>
          <a:lstStyle/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P-CLEM is implemented in PeleC with a 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mass-conserving, energy-consistent coupling.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0D reactor and premixed flame reproduce the references within 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 K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Splicing and regridding conserve scalars globally, but add 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spurious </a:t>
            </a:r>
            <a:r>
              <a:rPr lang="en-US" sz="1800" b="1" i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 err="1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Subgrid</a:t>
            </a: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mixing frequency is set by the LES eddy viscosity (Λ ∝ ν</a:t>
            </a:r>
            <a:r>
              <a:rPr lang="en-US" sz="1800" baseline="-25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800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17/12</a:t>
            </a: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6 × 10</a:t>
            </a:r>
            <a:r>
              <a:rPr lang="en-US" sz="1800" b="1" baseline="300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800" b="1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≈ 900. The closure is critical to accurately predict turbulent flames.</a:t>
            </a:r>
            <a:endParaRPr lang="en-US" sz="1800" dirty="0">
              <a:solidFill>
                <a:srgbClr val="042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Combustion and turbulence closures cannot be assessed independently.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0423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work is the baseline framework for further development, including AMR in the particle domain to simulate complex flow configurations accurately.</a:t>
            </a:r>
          </a:p>
        </p:txBody>
      </p:sp>
      <p:sp>
        <p:nvSpPr>
          <p:cNvPr id="40" name="Acknowledgements"/>
          <p:cNvSpPr txBox="1"/>
          <p:nvPr/>
        </p:nvSpPr>
        <p:spPr>
          <a:xfrm>
            <a:off x="76200" y="5740400"/>
            <a:ext cx="8978900" cy="406400"/>
          </a:xfrm>
          <a:prstGeom prst="rect">
            <a:avLst/>
          </a:prstGeom>
          <a:noFill/>
        </p:spPr>
        <p:txBody>
          <a:bodyPr wrap="square" lIns="100796" tIns="0" rIns="100796" bIns="0" anchor="b">
            <a:noAutofit/>
          </a:bodyPr>
          <a:lstStyle/>
          <a:p>
            <a:r>
              <a:rPr lang="en-US" sz="1100" dirty="0">
                <a:solidFill>
                  <a:srgbClr val="5A6B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authors acknowledge the support of the National Council for Science, Technology and Technological Innovation (CONCYTEC, Peru) through the PROCIENCIA program, under the 2025-01 Basic Research Projects call (Contract No. PE501095038-2025-PROCIENCIA)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5EC4C37-79A5-70EF-68FB-F56DFFFA3A64}"/>
              </a:ext>
            </a:extLst>
          </p:cNvPr>
          <p:cNvGrpSpPr/>
          <p:nvPr/>
        </p:nvGrpSpPr>
        <p:grpSpPr>
          <a:xfrm>
            <a:off x="0" y="6150044"/>
            <a:ext cx="9144000" cy="772468"/>
            <a:chOff x="0" y="6150044"/>
            <a:chExt cx="9144000" cy="772468"/>
          </a:xfrm>
        </p:grpSpPr>
        <p:sp>
          <p:nvSpPr>
            <p:cNvPr id="3" name="Rectángulo 6">
              <a:extLst>
                <a:ext uri="{FF2B5EF4-FFF2-40B4-BE49-F238E27FC236}">
                  <a16:creationId xmlns:a16="http://schemas.microsoft.com/office/drawing/2014/main" id="{931ABFA5-01BD-1487-A7B7-02964C979F0B}"/>
                </a:ext>
              </a:extLst>
            </p:cNvPr>
            <p:cNvSpPr/>
            <p:nvPr/>
          </p:nvSpPr>
          <p:spPr>
            <a:xfrm>
              <a:off x="0" y="6235700"/>
              <a:ext cx="9144000" cy="617900"/>
            </a:xfrm>
            <a:prstGeom prst="rect">
              <a:avLst/>
            </a:prstGeom>
            <a:solidFill>
              <a:srgbClr val="042354"/>
            </a:solidFill>
            <a:ln>
              <a:solidFill>
                <a:srgbClr val="04235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s-PE" sz="825"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pic>
          <p:nvPicPr>
            <p:cNvPr id="6" name="Imagen 7">
              <a:extLst>
                <a:ext uri="{FF2B5EF4-FFF2-40B4-BE49-F238E27FC236}">
                  <a16:creationId xmlns:a16="http://schemas.microsoft.com/office/drawing/2014/main" id="{720D37E5-6B01-A7D7-0D80-8A2FADE0C96A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68" y="6326189"/>
              <a:ext cx="1512891" cy="430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n 8">
              <a:extLst>
                <a:ext uri="{FF2B5EF4-FFF2-40B4-BE49-F238E27FC236}">
                  <a16:creationId xmlns:a16="http://schemas.microsoft.com/office/drawing/2014/main" id="{60BB35C3-FE02-2707-C8A2-1BC4CFDA9D1C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3220" y="6326189"/>
              <a:ext cx="1383262" cy="477836"/>
            </a:xfrm>
            <a:prstGeom prst="rect">
              <a:avLst/>
            </a:prstGeom>
          </p:spPr>
        </p:pic>
        <p:pic>
          <p:nvPicPr>
            <p:cNvPr id="8" name="Imagen 9">
              <a:extLst>
                <a:ext uri="{FF2B5EF4-FFF2-40B4-BE49-F238E27FC236}">
                  <a16:creationId xmlns:a16="http://schemas.microsoft.com/office/drawing/2014/main" id="{999F4469-32E4-13CA-262F-DC5E2ACB6D43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99" b="31108"/>
            <a:stretch/>
          </p:blipFill>
          <p:spPr bwMode="auto">
            <a:xfrm>
              <a:off x="7468427" y="6293448"/>
              <a:ext cx="1612105" cy="51474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82B40189-1542-BCE1-B2C6-10ED462AF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304" y="6359926"/>
              <a:ext cx="2528484" cy="290489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1DE50F91-3B11-28A4-8581-295EB1D30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674" y="6150044"/>
              <a:ext cx="1012057" cy="772468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2B523F2D-1A9B-A315-A311-5E986FF4E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806" y="6263047"/>
              <a:ext cx="1111325" cy="625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15844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1D283F-BCF3-458F-A65B-48EE07C5A602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da1cbe48-ce67-427a-9425-eb69682ee0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919</Words>
  <Application>Microsoft Office PowerPoint</Application>
  <PresentationFormat>Bildschirmpräsentation (4:3)</PresentationFormat>
  <Paragraphs>130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Tema de Office</vt:lpstr>
      <vt:lpstr>Combustion Regime-Independent Sub-grid Turbulent Combustion Model for Accurate Numerical Simulations of High-speed Turbulent Reacting Flows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</dc:creator>
  <cp:lastModifiedBy>Fernando Illacanchi</cp:lastModifiedBy>
  <cp:revision>33</cp:revision>
  <dcterms:created xsi:type="dcterms:W3CDTF">2026-09-03T00:15:23Z</dcterms:created>
  <dcterms:modified xsi:type="dcterms:W3CDTF">2026-10-15T18:36:16Z</dcterms:modified>
</cp:coreProperties>
</file>